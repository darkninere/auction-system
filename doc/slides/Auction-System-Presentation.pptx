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743200" cy="6400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Sarabun"/>
              </a:rPr>
              <a:t>Artwork Auction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C99A2E"/>
                </a:solidFill>
                <a:latin typeface="Sarabun"/>
              </a:rPr>
              <a:t>ระบบประมูลงานศิลปะออนไลน์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Sarabun"/>
              </a:rPr>
              <a:t>Spring Boot  |  Spring Data JPA  |  Spring Security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Sarabun"/>
              </a:rPr>
              <a:t>นำเสนอโดย: [ชื่อ-นามสกุล / รหัสนักศึกษา]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Sarabun"/>
              </a:rPr>
              <a:t>1. Intro /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0352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303520" cy="5486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55448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ปัญหา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50292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ศิลปินขายงานผ่านโซเชียล ไม่มีกลไกตั้งราคาที่เป็นธรรม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ผู้ซื้อไม่รู้ว่าใครเสนอราคาเท่าไร ขาดความโปร่งใส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การโอนเงินและติดตามพัสดุทำด้วยมือ ตรวจสอบยาก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ไม่มีผู้ดูแลคอยตรวจสอบ bid ที่ผิดปกติหรือคอมเมนต์ไม่เหมาะสม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30352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0352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55448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เป้าหมาย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0292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ให้ผู้ขายลงงานและเปิดประมูลพร้อมราคาเริ่มต้น/เวลาปิด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ผู้ซื้อเสนอราคาได้ ระบบปิดประมูลและประกาศผู้ชนะอัตโนมัติ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จัดการชำระเงิน สลิป และการจัดส่งในระบบเดียว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Admin ยกเลิกประมูล, void bid, ลบคอมเมนต์ และจัดการผู้ใช้ได้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Sarabun"/>
              </a:rPr>
              <a:t>2.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2377440" cy="868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508760"/>
            <a:ext cx="4206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508760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controller/api — REST API + PageController (MVC)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8"/>
            <a:ext cx="2377440" cy="86868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32888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532888"/>
            <a:ext cx="4206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532888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service + implementation — Business Logic,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57016"/>
            <a:ext cx="2377440" cy="868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57016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Repository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557016"/>
            <a:ext cx="4206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557016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Spring Data JPA — เข้าถึงฐานข้อมูล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81144"/>
            <a:ext cx="2377440" cy="86868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81144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arabun"/>
              </a:rPr>
              <a:t>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581144"/>
            <a:ext cx="42062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4581144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Entity 8 ตัว: User, Sellerprofile, Artwork, Bidding, 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508760"/>
            <a:ext cx="40233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1508760"/>
            <a:ext cx="402336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50876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Tech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2148839"/>
            <a:ext cx="3749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Java 26 + Spring Boot 4.1.1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Spring Data JPA / Hibernate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Spring Security (BCrypt, Role)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Thymeleaf (View) + PostgreSQL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931920"/>
            <a:ext cx="40233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3931920"/>
            <a:ext cx="4023360" cy="5486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93192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ส่วนประกอบเสริม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4572000"/>
            <a:ext cx="3749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DTO + Mapper, GlobalExceptionHandler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Scheduler ปิดประมูล/หมดเวลาชำระเงิน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44"/>
                </a:solidFill>
                <a:latin typeface="Sarabun"/>
              </a:rPr>
              <a:t>Swagger (springdoc) +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Sarabun"/>
              </a:rPr>
              <a:t>3.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69748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id, name, email, role, enabled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63040"/>
            <a:ext cx="269748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Sellerprofile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bankaccount, rating, salecount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9748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46304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Artwork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title, imageUrl, seller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46304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463040"/>
            <a:ext cx="269748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146304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Bidding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0312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startingPrice, lastBid, status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80360"/>
            <a:ext cx="2697480" cy="5486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BidAction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2044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amount, status (VALID/VOIDED)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88036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2880360"/>
            <a:ext cx="2697480" cy="5486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88036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Comment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52044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message, thumbsup/down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8036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880360"/>
            <a:ext cx="2697480" cy="5486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288036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CommentReaction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52044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type (LIKE/DISLIKE)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880360"/>
            <a:ext cx="26974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2880360"/>
            <a:ext cx="2697480" cy="5486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2880360"/>
            <a:ext cx="2514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Payment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52044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A44"/>
                </a:solidFill>
                <a:latin typeface="Sarabun"/>
              </a:rPr>
              <a:t>amount, status, slip,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38912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ความสัมพันธ์หลัก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User 1:1 Sellerprofile  |  Sellerprofile 1:N Artwork  |  Bidding N:N Artwork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Bidding 1:N BidAction / Comment  |  Comment 1:N CommentReaction (unique ต่อ user)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Bidding 1:1 Payment  |  User 1:N Bidding (owner/winner)  |  Payment N:1 Sellerprofile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55B6E"/>
                </a:solidFill>
                <a:latin typeface="Sarabun"/>
              </a:rPr>
              <a:t>* ใส่ภาพ ER Diagram จาก ER_Diagram.md ทับสไลด์นี้ได้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Sarabun"/>
              </a:rPr>
              <a:t>4. Design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Enterprise / Architectural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52120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Layered Architecture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MVC — controller / model / JSON view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Repository — Spring Data JPA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Service Layer — interface + Impl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DTO + Mapper — แยก Entity จาก API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arabun"/>
              </a:rPr>
              <a:t>• Dependency Injection — Constructor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303520" cy="5486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120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GoF ที่ใช้จริงในโค้ด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0292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State — BiddingState / PaymentState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   กฎการย้ายสถานะของแต่ละสถานะแยกเป็นคลาส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Factory Method — ErrorResponse.of()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Singleton — Spring Bean (@Service ฯลฯ)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Builder — User.withUsername().build()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   (ของ Spring Security)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Sarabun"/>
              </a:rPr>
              <a:t>4.1 State Pattern (service/state)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arabun"/>
              </a:rPr>
              <a:t>«interface» BiddingState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840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acceptsBids()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canMoveTo(target)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123444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234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Sarabun"/>
              </a:rPr>
              <a:t>Active
BiddingState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3383280"/>
            <a:ext cx="123444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3383280"/>
            <a:ext cx="1234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Sarabun"/>
              </a:rPr>
              <a:t>Closed
BiddingState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383280"/>
            <a:ext cx="123444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383280"/>
            <a:ext cx="1234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Sarabun"/>
              </a:rPr>
              <a:t>Cancelled
BiddingState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38404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3840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  <a:latin typeface="Sarabun"/>
              </a:rPr>
              <a:t>BiddingStateResolver (EnumMap)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3840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PaymentState: 6 สถานะ ใช้โครงเดียวกัน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463040"/>
            <a:ext cx="68580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ทำไมใช้ State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Bidding และ Payment มีกฎต่างกันในแต่ละสถานะ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ACTIVE → CLOSED/CANCELLED เท่านั้น, CLOSED/CANCELLED ย้ายต่อไม่ได้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Payment: AWAITING → SUBMITTED → PAID → COMPLETED (หรือ EXPIRED/CANCELLED)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• เลิกใช้ if-else กระจายใน Service  เพิ่มสถานะใหม่ = เพิ่มคลาส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ผู้เรียกใช้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A44"/>
                </a:solidFill>
                <a:latin typeface="Sarabun"/>
              </a:rPr>
              <a:t>BiddingServiceImpl, AdminBiddingServiceImpl, AdminBidActionServiceImpl, PaymentServiceImpl, AdminPaymentServiceImpl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Sarabun"/>
              </a:rPr>
              <a:t>5.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011680"/>
            <a:ext cx="731520" cy="73152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Sarabu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Sarabun"/>
              </a:rPr>
              <a:t>สมัคร/ล็อกอิน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Seller ตั้ง Seller 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82880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2011680"/>
            <a:ext cx="731520" cy="73152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803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Sarabun"/>
              </a:rPr>
              <a:t>ลงงาน + เปิดประมูล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5760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ราคาเริ่มต้น, วันเวลาปิด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82880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15000" y="2011680"/>
            <a:ext cx="731520" cy="73152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0116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Sarabu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8803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Sarabun"/>
              </a:rPr>
              <a:t>เสนอราคา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65760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ผู้ซื้อ bid + คอมเมนต์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82880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0" y="2011680"/>
            <a:ext cx="731520" cy="73152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0116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Sarabu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8803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Sarabun"/>
              </a:rPr>
              <a:t>ปิดประมูล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65760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Scheduler ประกาศผู้ชนะ สร้าง Payment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82880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7000" y="2011680"/>
            <a:ext cx="731520" cy="731520"/>
          </a:xfrm>
          <a:prstGeom prst="ellipse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0116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Sarabun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88036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Sarabun"/>
              </a:rPr>
              <a:t>ชำระเงิน/จัดส่ง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65760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B6E"/>
                </a:solidFill>
                <a:latin typeface="Sarabun"/>
              </a:rPr>
              <a:t>ส่งสลิป → Admin ยืนยัน → ใส่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A44"/>
                </a:solidFill>
                <a:latin typeface="Sarabun"/>
              </a:rPr>
              <a:t>ฟีเจอร์ Admin: ยกเลิกประมูล, void bid, ลบคอมเมนต์/งาน, ระงับผู้ใช้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3749039"/>
            <a:ext cx="2651760" cy="64008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7200" b="1">
                <a:solidFill>
                  <a:srgbClr val="FFFFFF"/>
                </a:solidFill>
                <a:latin typeface="Sarabun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C99A2E"/>
                </a:solidFill>
                <a:latin typeface="Sarabun"/>
              </a:rPr>
              <a:t>ขอบคุณครับ/ค่ะ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