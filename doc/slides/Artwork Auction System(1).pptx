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Sarabun"/>
      <p:regular r:id="rId27"/>
      <p:bold r:id="rId28"/>
      <p:italic r:id="rId29"/>
      <p:boldItalic r:id="rId30"/>
    </p:embeddedFont>
    <p:embeddedFont>
      <p:font typeface="Sarabun Thin"/>
      <p:regular r:id="rId31"/>
      <p:bold r:id="rId32"/>
      <p:italic r:id="rId33"/>
      <p:boldItalic r:id="rId34"/>
    </p:embeddedFont>
    <p:embeddedFont>
      <p:font typeface="Bai Jamjuree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5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5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Sarabun-bold.fntdata"/><Relationship Id="rId27" Type="http://schemas.openxmlformats.org/officeDocument/2006/relationships/font" Target="fonts/Sarabun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arabun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arabunThin-regular.fntdata"/><Relationship Id="rId30" Type="http://schemas.openxmlformats.org/officeDocument/2006/relationships/font" Target="fonts/Sarabun-boldItalic.fntdata"/><Relationship Id="rId11" Type="http://schemas.openxmlformats.org/officeDocument/2006/relationships/slide" Target="slides/slide6.xml"/><Relationship Id="rId33" Type="http://schemas.openxmlformats.org/officeDocument/2006/relationships/font" Target="fonts/SarabunThin-italic.fntdata"/><Relationship Id="rId10" Type="http://schemas.openxmlformats.org/officeDocument/2006/relationships/slide" Target="slides/slide5.xml"/><Relationship Id="rId32" Type="http://schemas.openxmlformats.org/officeDocument/2006/relationships/font" Target="fonts/SarabunThin-bold.fntdata"/><Relationship Id="rId13" Type="http://schemas.openxmlformats.org/officeDocument/2006/relationships/slide" Target="slides/slide8.xml"/><Relationship Id="rId35" Type="http://schemas.openxmlformats.org/officeDocument/2006/relationships/font" Target="fonts/BaiJamjuree-regular.fntdata"/><Relationship Id="rId12" Type="http://schemas.openxmlformats.org/officeDocument/2006/relationships/slide" Target="slides/slide7.xml"/><Relationship Id="rId34" Type="http://schemas.openxmlformats.org/officeDocument/2006/relationships/font" Target="fonts/SarabunThin-boldItalic.fntdata"/><Relationship Id="rId15" Type="http://schemas.openxmlformats.org/officeDocument/2006/relationships/slide" Target="slides/slide10.xml"/><Relationship Id="rId37" Type="http://schemas.openxmlformats.org/officeDocument/2006/relationships/font" Target="fonts/BaiJamjuree-italic.fntdata"/><Relationship Id="rId14" Type="http://schemas.openxmlformats.org/officeDocument/2006/relationships/slide" Target="slides/slide9.xml"/><Relationship Id="rId36" Type="http://schemas.openxmlformats.org/officeDocument/2006/relationships/font" Target="fonts/BaiJamjuree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BaiJamjuree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463d282f91205e2b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h463d282f91205e2b_3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463d282f91205e2b_23_1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463d282f91205e2b_23_1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463d282f91205e2b_3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h463d282f91205e2b_3_8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463d282f91205e2b_3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h463d282f91205e2b_3_10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h3b4623623e017f9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h3b4623623e017f9c_0_87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h463d282f91205e2b_3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h463d282f91205e2b_3_13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463d282f91205e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h463d282f91205e2b_0_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h463d282f91205e2b_3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h463d282f91205e2b_3_17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h463d282f91205e2b_3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h463d282f91205e2b_3_19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h463d282f91205e2b_23_1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h463d282f91205e2b_23_1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h463d282f91205e2b_3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h463d282f91205e2b_3_24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h3b4623623e017f9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h3b4623623e017f9c_0_59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h3b4623623e017f9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h3b4623623e017f9c_0_74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h3b4623623e017f9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h3b4623623e017f9c_0_48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h3b4623623e017f9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h3b4623623e017f9c_0_25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h463d282f91205e2b_1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h463d282f91205e2b_11_49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h463d282f91205e2b_1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h463d282f91205e2b_11_28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h3b4623623e017f9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h3b4623623e017f9c_0_12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h3b4623623e017f9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h3b4623623e017f9c_0_102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h3b4623623e017f9c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h3b4623623e017f9c_0_117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h3b4623623e017f9c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h3b4623623e017f9c_0_133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64" y="1597819"/>
            <a:ext cx="5829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028727" y="2914650"/>
            <a:ext cx="4800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541749" y="3305175"/>
            <a:ext cx="58296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541749" y="2180035"/>
            <a:ext cx="58296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42909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86243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42909" y="1151335"/>
            <a:ext cx="30303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342909" y="1631156"/>
            <a:ext cx="30303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83862" y="1151335"/>
            <a:ext cx="3031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83862" y="1631156"/>
            <a:ext cx="30315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342909" y="204788"/>
            <a:ext cx="22563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2681359" y="204788"/>
            <a:ext cx="38340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342909" y="1076325"/>
            <a:ext cx="22563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344252" y="3600450"/>
            <a:ext cx="41148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344252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344252" y="4025504"/>
            <a:ext cx="4114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731774" y="-188850"/>
            <a:ext cx="3394500" cy="6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3549324" y="1628729"/>
            <a:ext cx="4388700" cy="15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406029" y="142828"/>
            <a:ext cx="4388700" cy="45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463d282f91205e2b_41_0)">
  <p:cSld name="Generated (h463d282f91205e2b_41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909" y="205978"/>
            <a:ext cx="6172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909" y="1200150"/>
            <a:ext cx="61725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342909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2343212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4915031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548655" y="2434590"/>
            <a:ext cx="2057455" cy="48006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48655" y="1097280"/>
            <a:ext cx="788691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41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Artwork Auction System</a:t>
            </a:r>
            <a:endParaRPr sz="1100"/>
          </a:p>
        </p:txBody>
      </p:sp>
      <p:sp>
        <p:nvSpPr>
          <p:cNvPr id="88" name="Google Shape;88;p14"/>
          <p:cNvSpPr txBox="1"/>
          <p:nvPr/>
        </p:nvSpPr>
        <p:spPr>
          <a:xfrm>
            <a:off x="548655" y="1851660"/>
            <a:ext cx="788691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2300" u="none" cap="none" strike="noStrike">
                <a:solidFill>
                  <a:srgbClr val="C99A2E"/>
                </a:solidFill>
                <a:latin typeface="Sarabun"/>
                <a:ea typeface="Sarabun"/>
                <a:cs typeface="Sarabun"/>
                <a:sym typeface="Sarabun"/>
              </a:rPr>
              <a:t>ระบบประมูลงานศิลปะออนไลน์</a:t>
            </a:r>
            <a:endParaRPr sz="1100"/>
          </a:p>
        </p:txBody>
      </p:sp>
      <p:sp>
        <p:nvSpPr>
          <p:cNvPr id="89" name="Google Shape;89;p14"/>
          <p:cNvSpPr txBox="1"/>
          <p:nvPr/>
        </p:nvSpPr>
        <p:spPr>
          <a:xfrm>
            <a:off x="548655" y="2674620"/>
            <a:ext cx="788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5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Spring Boot  |  Spring Data JPA  |  Spring Security</a:t>
            </a:r>
            <a:endParaRPr sz="1500">
              <a:solidFill>
                <a:srgbClr val="FFFFFF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5393128" y="183125"/>
            <a:ext cx="35580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th" sz="410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GROUP 5</a:t>
            </a:r>
            <a:endParaRPr sz="1100"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8737200" y="4645225"/>
            <a:ext cx="40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h">
                <a:solidFill>
                  <a:srgbClr val="F5F1E8"/>
                </a:solidFill>
                <a:latin typeface="Sarabun Thin"/>
                <a:ea typeface="Sarabun Thin"/>
                <a:cs typeface="Sarabun Thin"/>
                <a:sym typeface="Sarabun Thin"/>
              </a:rPr>
              <a:t>1</a:t>
            </a:r>
            <a:endParaRPr>
              <a:solidFill>
                <a:srgbClr val="F5F1E8"/>
              </a:solidFill>
              <a:latin typeface="Sarabun Thin"/>
              <a:ea typeface="Sarabun Thin"/>
              <a:cs typeface="Sarabun Thin"/>
              <a:sym typeface="Sarabun Thi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0" y="0"/>
            <a:ext cx="9144000" cy="857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0" y="857250"/>
            <a:ext cx="9144000" cy="411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411480" y="102870"/>
            <a:ext cx="7886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h" sz="26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Team Members — Group 5</a:t>
            </a:r>
            <a:endParaRPr b="1" sz="2600">
              <a:solidFill>
                <a:srgbClr val="FFFFFF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grpSp>
        <p:nvGrpSpPr>
          <p:cNvPr id="100" name="Google Shape;100;p15"/>
          <p:cNvGrpSpPr/>
          <p:nvPr/>
        </p:nvGrpSpPr>
        <p:grpSpPr>
          <a:xfrm>
            <a:off x="381000" y="1095375"/>
            <a:ext cx="8382000" cy="647700"/>
            <a:chOff x="0" y="0"/>
            <a:chExt cx="8382000" cy="647700"/>
          </a:xfrm>
        </p:grpSpPr>
        <p:sp>
          <p:nvSpPr>
            <p:cNvPr id="101" name="Google Shape;101;p15"/>
            <p:cNvSpPr/>
            <p:nvPr/>
          </p:nvSpPr>
          <p:spPr>
            <a:xfrm>
              <a:off x="0" y="0"/>
              <a:ext cx="8382000" cy="647700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0" y="0"/>
              <a:ext cx="76200" cy="647700"/>
            </a:xfrm>
            <a:prstGeom prst="roundRect">
              <a:avLst>
                <a:gd fmla="val 50000" name="adj"/>
              </a:avLst>
            </a:prstGeom>
            <a:solidFill>
              <a:srgbClr val="1F2A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 txBox="1"/>
            <p:nvPr/>
          </p:nvSpPr>
          <p:spPr>
            <a:xfrm>
              <a:off x="228600" y="95250"/>
              <a:ext cx="476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2200">
                  <a:solidFill>
                    <a:srgbClr val="C99A2E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01</a:t>
              </a:r>
              <a:endParaRPr b="1" sz="2200">
                <a:solidFill>
                  <a:srgbClr val="C99A2E"/>
                </a:solidFill>
                <a:latin typeface="Bai Jamjuree"/>
                <a:ea typeface="Bai Jamjuree"/>
                <a:cs typeface="Bai Jamjuree"/>
                <a:sym typeface="Bai Jamjuree"/>
              </a:endParaRPr>
            </a:p>
          </p:txBody>
        </p:sp>
        <p:sp>
          <p:nvSpPr>
            <p:cNvPr id="104" name="Google Shape;104;p15"/>
            <p:cNvSpPr txBox="1"/>
            <p:nvPr/>
          </p:nvSpPr>
          <p:spPr>
            <a:xfrm>
              <a:off x="762000" y="95250"/>
              <a:ext cx="457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1500">
                  <a:solidFill>
                    <a:srgbClr val="1F2A44"/>
                  </a:solidFill>
                  <a:latin typeface="Sarabun"/>
                  <a:ea typeface="Sarabun"/>
                  <a:cs typeface="Sarabun"/>
                  <a:sym typeface="Sarabun"/>
                </a:rPr>
                <a:t>ปุณยวีร์ แทนคำ</a:t>
              </a:r>
              <a:endParaRPr b="1" sz="1500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" sz="1100">
                  <a:solidFill>
                    <a:srgbClr val="666666"/>
                  </a:solidFill>
                  <a:latin typeface="Sarabun"/>
                  <a:ea typeface="Sarabun"/>
                  <a:cs typeface="Sarabun"/>
                  <a:sym typeface="Sarabun"/>
                </a:rPr>
                <a:t>673380282-8 | poonywee_6733802828-01</a:t>
              </a:r>
              <a:endParaRPr sz="1100">
                <a:solidFill>
                  <a:srgbClr val="666666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6096000" y="152400"/>
              <a:ext cx="2095500" cy="342900"/>
            </a:xfrm>
            <a:prstGeom prst="roundRect">
              <a:avLst>
                <a:gd fmla="val 50000" name="adj"/>
              </a:avLst>
            </a:prstGeom>
            <a:solidFill>
              <a:srgbClr val="1F2A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6096000" y="152400"/>
              <a:ext cx="20955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th" sz="95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Backend Core &amp; Payment System</a:t>
              </a:r>
              <a:endParaRPr b="1" i="0" sz="95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</p:grpSp>
      <p:grpSp>
        <p:nvGrpSpPr>
          <p:cNvPr id="107" name="Google Shape;107;p15"/>
          <p:cNvGrpSpPr/>
          <p:nvPr/>
        </p:nvGrpSpPr>
        <p:grpSpPr>
          <a:xfrm>
            <a:off x="381000" y="1857375"/>
            <a:ext cx="8382000" cy="647700"/>
            <a:chOff x="0" y="0"/>
            <a:chExt cx="8382000" cy="647700"/>
          </a:xfrm>
        </p:grpSpPr>
        <p:sp>
          <p:nvSpPr>
            <p:cNvPr id="108" name="Google Shape;108;p15"/>
            <p:cNvSpPr/>
            <p:nvPr/>
          </p:nvSpPr>
          <p:spPr>
            <a:xfrm>
              <a:off x="0" y="0"/>
              <a:ext cx="8382000" cy="647700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0" y="0"/>
              <a:ext cx="76200" cy="647700"/>
            </a:xfrm>
            <a:prstGeom prst="roundRect">
              <a:avLst>
                <a:gd fmla="val 50000" name="adj"/>
              </a:avLst>
            </a:prstGeom>
            <a:solidFill>
              <a:srgbClr val="C99A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5"/>
            <p:cNvSpPr txBox="1"/>
            <p:nvPr/>
          </p:nvSpPr>
          <p:spPr>
            <a:xfrm>
              <a:off x="228600" y="95250"/>
              <a:ext cx="476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2200">
                  <a:solidFill>
                    <a:srgbClr val="1F2A44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02</a:t>
              </a:r>
              <a:endParaRPr b="1" sz="2200">
                <a:solidFill>
                  <a:srgbClr val="1F2A44"/>
                </a:solidFill>
                <a:latin typeface="Bai Jamjuree"/>
                <a:ea typeface="Bai Jamjuree"/>
                <a:cs typeface="Bai Jamjuree"/>
                <a:sym typeface="Bai Jamjuree"/>
              </a:endParaRPr>
            </a:p>
          </p:txBody>
        </p:sp>
        <p:sp>
          <p:nvSpPr>
            <p:cNvPr id="111" name="Google Shape;111;p15"/>
            <p:cNvSpPr txBox="1"/>
            <p:nvPr/>
          </p:nvSpPr>
          <p:spPr>
            <a:xfrm>
              <a:off x="762000" y="95250"/>
              <a:ext cx="457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1500">
                  <a:solidFill>
                    <a:srgbClr val="1F2A44"/>
                  </a:solidFill>
                  <a:latin typeface="Sarabun"/>
                  <a:ea typeface="Sarabun"/>
                  <a:cs typeface="Sarabun"/>
                  <a:sym typeface="Sarabun"/>
                </a:rPr>
                <a:t>ปริญญ์นกร อยู่แท้กูล</a:t>
              </a:r>
              <a:endParaRPr b="1" sz="1500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" sz="1100">
                  <a:solidFill>
                    <a:srgbClr val="666666"/>
                  </a:solidFill>
                  <a:latin typeface="Sarabun"/>
                  <a:ea typeface="Sarabun"/>
                  <a:cs typeface="Sarabun"/>
                  <a:sym typeface="Sarabun"/>
                </a:rPr>
                <a:t>673380277-1 | parinnakorn_6733802771_02</a:t>
              </a:r>
              <a:endParaRPr sz="1100">
                <a:solidFill>
                  <a:srgbClr val="666666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6096000" y="152400"/>
              <a:ext cx="2095500" cy="342900"/>
            </a:xfrm>
            <a:prstGeom prst="roundRect">
              <a:avLst>
                <a:gd fmla="val 50000" name="adj"/>
              </a:avLst>
            </a:prstGeom>
            <a:solidFill>
              <a:srgbClr val="C99A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 txBox="1"/>
            <p:nvPr/>
          </p:nvSpPr>
          <p:spPr>
            <a:xfrm>
              <a:off x="6096000" y="152400"/>
              <a:ext cx="20955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th" sz="95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Artwork, Bid Tracking &amp; API Doc</a:t>
              </a:r>
              <a:endParaRPr b="1" i="0" sz="95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</p:grpSp>
      <p:grpSp>
        <p:nvGrpSpPr>
          <p:cNvPr id="114" name="Google Shape;114;p15"/>
          <p:cNvGrpSpPr/>
          <p:nvPr/>
        </p:nvGrpSpPr>
        <p:grpSpPr>
          <a:xfrm>
            <a:off x="381000" y="2619375"/>
            <a:ext cx="8382000" cy="647700"/>
            <a:chOff x="0" y="0"/>
            <a:chExt cx="8382000" cy="647700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0"/>
              <a:ext cx="8382000" cy="647700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0" y="0"/>
              <a:ext cx="76200" cy="647700"/>
            </a:xfrm>
            <a:prstGeom prst="roundRect">
              <a:avLst>
                <a:gd fmla="val 50000" name="adj"/>
              </a:avLst>
            </a:prstGeom>
            <a:solidFill>
              <a:srgbClr val="1F2A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228600" y="95250"/>
              <a:ext cx="476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2200">
                  <a:solidFill>
                    <a:srgbClr val="C99A2E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03</a:t>
              </a:r>
              <a:endParaRPr b="1" sz="2200">
                <a:solidFill>
                  <a:srgbClr val="C99A2E"/>
                </a:solidFill>
                <a:latin typeface="Bai Jamjuree"/>
                <a:ea typeface="Bai Jamjuree"/>
                <a:cs typeface="Bai Jamjuree"/>
                <a:sym typeface="Bai Jamjuree"/>
              </a:endParaRPr>
            </a:p>
          </p:txBody>
        </p:sp>
        <p:sp>
          <p:nvSpPr>
            <p:cNvPr id="118" name="Google Shape;118;p15"/>
            <p:cNvSpPr txBox="1"/>
            <p:nvPr/>
          </p:nvSpPr>
          <p:spPr>
            <a:xfrm>
              <a:off x="762000" y="95250"/>
              <a:ext cx="457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1500">
                  <a:solidFill>
                    <a:srgbClr val="1F2A44"/>
                  </a:solidFill>
                  <a:latin typeface="Sarabun"/>
                  <a:ea typeface="Sarabun"/>
                  <a:cs typeface="Sarabun"/>
                  <a:sym typeface="Sarabun"/>
                </a:rPr>
                <a:t>พงศพัศ เลบ้านแท่น</a:t>
              </a:r>
              <a:endParaRPr b="1" sz="1500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" sz="1100">
                  <a:solidFill>
                    <a:srgbClr val="666666"/>
                  </a:solidFill>
                  <a:latin typeface="Sarabun"/>
                  <a:ea typeface="Sarabun"/>
                  <a:cs typeface="Sarabun"/>
                  <a:sym typeface="Sarabun"/>
                </a:rPr>
                <a:t>673380283-6 | pongsapat_6733802836_01</a:t>
              </a:r>
              <a:endParaRPr sz="1100">
                <a:solidFill>
                  <a:srgbClr val="666666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6096000" y="152400"/>
              <a:ext cx="2095500" cy="342900"/>
            </a:xfrm>
            <a:prstGeom prst="roundRect">
              <a:avLst>
                <a:gd fmla="val 50000" name="adj"/>
              </a:avLst>
            </a:prstGeom>
            <a:solidFill>
              <a:srgbClr val="1F2A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6096000" y="152400"/>
              <a:ext cx="20955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th" sz="8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Architecture, Financial Precision &amp; System Design</a:t>
              </a:r>
              <a:endParaRPr b="1" i="0" sz="8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</p:grpSp>
      <p:grpSp>
        <p:nvGrpSpPr>
          <p:cNvPr id="121" name="Google Shape;121;p15"/>
          <p:cNvGrpSpPr/>
          <p:nvPr/>
        </p:nvGrpSpPr>
        <p:grpSpPr>
          <a:xfrm>
            <a:off x="381000" y="3381375"/>
            <a:ext cx="8382000" cy="647700"/>
            <a:chOff x="0" y="0"/>
            <a:chExt cx="8382000" cy="647700"/>
          </a:xfrm>
        </p:grpSpPr>
        <p:sp>
          <p:nvSpPr>
            <p:cNvPr id="122" name="Google Shape;122;p15"/>
            <p:cNvSpPr/>
            <p:nvPr/>
          </p:nvSpPr>
          <p:spPr>
            <a:xfrm>
              <a:off x="0" y="0"/>
              <a:ext cx="8382000" cy="647700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0" y="0"/>
              <a:ext cx="76200" cy="647700"/>
            </a:xfrm>
            <a:prstGeom prst="roundRect">
              <a:avLst>
                <a:gd fmla="val 50000" name="adj"/>
              </a:avLst>
            </a:prstGeom>
            <a:solidFill>
              <a:srgbClr val="C99A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228600" y="95250"/>
              <a:ext cx="476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2200">
                  <a:solidFill>
                    <a:srgbClr val="1F2A44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04</a:t>
              </a:r>
              <a:endParaRPr b="1" sz="2200">
                <a:solidFill>
                  <a:srgbClr val="1F2A44"/>
                </a:solidFill>
                <a:latin typeface="Bai Jamjuree"/>
                <a:ea typeface="Bai Jamjuree"/>
                <a:cs typeface="Bai Jamjuree"/>
                <a:sym typeface="Bai Jamjuree"/>
              </a:endParaRPr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762000" y="95250"/>
              <a:ext cx="457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1500">
                  <a:solidFill>
                    <a:srgbClr val="1F2A44"/>
                  </a:solidFill>
                  <a:latin typeface="Sarabun"/>
                  <a:ea typeface="Sarabun"/>
                  <a:cs typeface="Sarabun"/>
                  <a:sym typeface="Sarabun"/>
                </a:rPr>
                <a:t>ชนิณทร์ ใจช่วง</a:t>
              </a:r>
              <a:endParaRPr b="1" sz="1500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" sz="1100">
                  <a:solidFill>
                    <a:srgbClr val="666666"/>
                  </a:solidFill>
                  <a:latin typeface="Sarabun"/>
                  <a:ea typeface="Sarabun"/>
                  <a:cs typeface="Sarabun"/>
                  <a:sym typeface="Sarabun"/>
                </a:rPr>
                <a:t>673380264-0 | chanin_6733802640_01</a:t>
              </a:r>
              <a:endParaRPr sz="1100">
                <a:solidFill>
                  <a:srgbClr val="666666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6096000" y="152400"/>
              <a:ext cx="2095500" cy="342900"/>
            </a:xfrm>
            <a:prstGeom prst="roundRect">
              <a:avLst>
                <a:gd fmla="val 50000" name="adj"/>
              </a:avLst>
            </a:prstGeom>
            <a:solidFill>
              <a:srgbClr val="C99A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5"/>
            <p:cNvSpPr txBox="1"/>
            <p:nvPr/>
          </p:nvSpPr>
          <p:spPr>
            <a:xfrm>
              <a:off x="6096000" y="152400"/>
              <a:ext cx="20955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th" sz="85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Lead, DevOps, Testing &amp; Thymeleaf Integration</a:t>
              </a:r>
              <a:endParaRPr b="1" i="0" sz="85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</p:grpSp>
      <p:grpSp>
        <p:nvGrpSpPr>
          <p:cNvPr id="128" name="Google Shape;128;p15"/>
          <p:cNvGrpSpPr/>
          <p:nvPr/>
        </p:nvGrpSpPr>
        <p:grpSpPr>
          <a:xfrm>
            <a:off x="381000" y="4143375"/>
            <a:ext cx="8382000" cy="647700"/>
            <a:chOff x="0" y="0"/>
            <a:chExt cx="8382000" cy="647700"/>
          </a:xfrm>
        </p:grpSpPr>
        <p:sp>
          <p:nvSpPr>
            <p:cNvPr id="129" name="Google Shape;129;p15"/>
            <p:cNvSpPr/>
            <p:nvPr/>
          </p:nvSpPr>
          <p:spPr>
            <a:xfrm>
              <a:off x="0" y="0"/>
              <a:ext cx="8382000" cy="647700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0" y="0"/>
              <a:ext cx="76200" cy="647700"/>
            </a:xfrm>
            <a:prstGeom prst="roundRect">
              <a:avLst>
                <a:gd fmla="val 50000" name="adj"/>
              </a:avLst>
            </a:prstGeom>
            <a:solidFill>
              <a:srgbClr val="1F2A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5"/>
            <p:cNvSpPr txBox="1"/>
            <p:nvPr/>
          </p:nvSpPr>
          <p:spPr>
            <a:xfrm>
              <a:off x="228600" y="95250"/>
              <a:ext cx="476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2200">
                  <a:solidFill>
                    <a:srgbClr val="C99A2E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05</a:t>
              </a:r>
              <a:endParaRPr b="1" sz="2200">
                <a:solidFill>
                  <a:srgbClr val="C99A2E"/>
                </a:solidFill>
                <a:latin typeface="Bai Jamjuree"/>
                <a:ea typeface="Bai Jamjuree"/>
                <a:cs typeface="Bai Jamjuree"/>
                <a:sym typeface="Bai Jamjuree"/>
              </a:endParaRPr>
            </a:p>
          </p:txBody>
        </p:sp>
        <p:sp>
          <p:nvSpPr>
            <p:cNvPr id="132" name="Google Shape;132;p15"/>
            <p:cNvSpPr txBox="1"/>
            <p:nvPr/>
          </p:nvSpPr>
          <p:spPr>
            <a:xfrm>
              <a:off x="762000" y="95250"/>
              <a:ext cx="4572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1500">
                  <a:solidFill>
                    <a:srgbClr val="1F2A44"/>
                  </a:solidFill>
                  <a:latin typeface="Sarabun"/>
                  <a:ea typeface="Sarabun"/>
                  <a:cs typeface="Sarabun"/>
                  <a:sym typeface="Sarabun"/>
                </a:rPr>
                <a:t>จิณณวัตร โพธิ์ศรีทอง</a:t>
              </a:r>
              <a:endParaRPr b="1" sz="1500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" sz="1100">
                  <a:solidFill>
                    <a:srgbClr val="666666"/>
                  </a:solidFill>
                  <a:latin typeface="Sarabun"/>
                  <a:ea typeface="Sarabun"/>
                  <a:cs typeface="Sarabun"/>
                  <a:sym typeface="Sarabun"/>
                </a:rPr>
                <a:t>673380263-2 | jinnawat_6733801632_01</a:t>
              </a:r>
              <a:endParaRPr sz="1100">
                <a:solidFill>
                  <a:srgbClr val="666666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6096000" y="152400"/>
              <a:ext cx="2095500" cy="342900"/>
            </a:xfrm>
            <a:prstGeom prst="roundRect">
              <a:avLst>
                <a:gd fmla="val 50000" name="adj"/>
              </a:avLst>
            </a:prstGeom>
            <a:solidFill>
              <a:srgbClr val="1F2A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5"/>
            <p:cNvSpPr txBox="1"/>
            <p:nvPr/>
          </p:nvSpPr>
          <p:spPr>
            <a:xfrm>
              <a:off x="6096000" y="152400"/>
              <a:ext cx="20955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th" sz="95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Frontend &amp; UI/UX Development</a:t>
              </a:r>
              <a:endParaRPr b="1" i="0" sz="95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</p:grpSp>
      <p:sp>
        <p:nvSpPr>
          <p:cNvPr id="135" name="Google Shape;135;p15"/>
          <p:cNvSpPr txBox="1"/>
          <p:nvPr/>
        </p:nvSpPr>
        <p:spPr>
          <a:xfrm>
            <a:off x="8763000" y="4665000"/>
            <a:ext cx="38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h">
                <a:solidFill>
                  <a:schemeClr val="dk1"/>
                </a:solidFill>
                <a:latin typeface="Sarabun Thin"/>
                <a:ea typeface="Sarabun Thin"/>
                <a:cs typeface="Sarabun Thin"/>
                <a:sym typeface="Sarabun Thin"/>
              </a:rPr>
              <a:t>2</a:t>
            </a:r>
            <a:endParaRPr>
              <a:solidFill>
                <a:schemeClr val="dk1"/>
              </a:solidFill>
              <a:latin typeface="Sarabun Thin"/>
              <a:ea typeface="Sarabun Thin"/>
              <a:cs typeface="Sarabun Thin"/>
              <a:sym typeface="Sarabun Thi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0" y="0"/>
            <a:ext cx="9144015" cy="85725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0" y="857250"/>
            <a:ext cx="9144015" cy="41148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411491" y="102870"/>
            <a:ext cx="788691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26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1. Intro / Problem Statement</a:t>
            </a:r>
            <a:endParaRPr sz="1100"/>
          </a:p>
        </p:txBody>
      </p:sp>
      <p:sp>
        <p:nvSpPr>
          <p:cNvPr id="144" name="Google Shape;144;p16"/>
          <p:cNvSpPr txBox="1"/>
          <p:nvPr/>
        </p:nvSpPr>
        <p:spPr>
          <a:xfrm>
            <a:off x="8366983" y="4732020"/>
            <a:ext cx="617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th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rPr>
              <a:t>3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480073" y="1165860"/>
            <a:ext cx="3977746" cy="3360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480073" y="1165860"/>
            <a:ext cx="3977746" cy="41148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548654" y="1165860"/>
            <a:ext cx="384058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14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ปัญหา</a:t>
            </a:r>
            <a:endParaRPr sz="1100"/>
          </a:p>
        </p:txBody>
      </p:sp>
      <p:sp>
        <p:nvSpPr>
          <p:cNvPr id="148" name="Google Shape;148;p16"/>
          <p:cNvSpPr txBox="1"/>
          <p:nvPr/>
        </p:nvSpPr>
        <p:spPr>
          <a:xfrm>
            <a:off x="582946" y="1645920"/>
            <a:ext cx="3772001" cy="28117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4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• ศิลปินขายงานผ่านโซเชียล ไม่มีกลไกตั้งราคาที่เป็นธรรม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4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• ผู้ซื้อไม่รู้ว่าใครเสนอราคาเท่าไร ขาดความโปร่งใส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4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• การโอนเงินและติดตามพัสดุทำด้วยมือ ตรวจสอบยาก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4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• ไม่มีผู้ดูแลคอยตรวจสอบ bid ที่ผิดปกติหรือคอมเมนต์ไม่เหมาะสม</a:t>
            </a:r>
            <a:endParaRPr sz="1100"/>
          </a:p>
        </p:txBody>
      </p:sp>
      <p:sp>
        <p:nvSpPr>
          <p:cNvPr id="149" name="Google Shape;149;p16"/>
          <p:cNvSpPr/>
          <p:nvPr/>
        </p:nvSpPr>
        <p:spPr>
          <a:xfrm>
            <a:off x="4697855" y="1165860"/>
            <a:ext cx="3977746" cy="33604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4697855" y="1165860"/>
            <a:ext cx="3977746" cy="4114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4766436" y="1165860"/>
            <a:ext cx="384058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14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เป้าหมาย</a:t>
            </a:r>
            <a:endParaRPr sz="1100"/>
          </a:p>
        </p:txBody>
      </p:sp>
      <p:sp>
        <p:nvSpPr>
          <p:cNvPr id="152" name="Google Shape;152;p16"/>
          <p:cNvSpPr txBox="1"/>
          <p:nvPr/>
        </p:nvSpPr>
        <p:spPr>
          <a:xfrm>
            <a:off x="4800728" y="1645920"/>
            <a:ext cx="3771900" cy="18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4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•</a:t>
            </a:r>
            <a:r>
              <a:rPr b="0" i="0" lang="th" sz="14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ผู้ขายลงงานและเปิดประมูลพร้อมราคาเริ่มต้น/</a:t>
            </a:r>
            <a:endParaRPr b="0" i="0" sz="1400" u="none" cap="none" strike="noStrike">
              <a:solidFill>
                <a:srgbClr val="1F2A44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4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เวลาปิด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4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• ผู้ซื้อเสนอราคาได้ ระบบปิดประมูลและประกาศผู้ชนะอัตโนมัติ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4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• จัดการชำระเงิน สลิป และการจัดส่งในระบบเดียว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4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• Admin ยกเลิกประมูล, void bid, ลบคอมเมนต์ และจัดการผู้ใช้ได้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0" y="0"/>
            <a:ext cx="9144015" cy="85725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0" y="857250"/>
            <a:ext cx="9144015" cy="41148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411491" y="102870"/>
            <a:ext cx="788691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26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2. System Architecture</a:t>
            </a:r>
            <a:endParaRPr sz="1100"/>
          </a:p>
        </p:txBody>
      </p:sp>
      <p:sp>
        <p:nvSpPr>
          <p:cNvPr id="161" name="Google Shape;161;p17"/>
          <p:cNvSpPr txBox="1"/>
          <p:nvPr/>
        </p:nvSpPr>
        <p:spPr>
          <a:xfrm>
            <a:off x="8366983" y="4732020"/>
            <a:ext cx="617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th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rPr>
              <a:t>4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480073" y="1131570"/>
            <a:ext cx="1783128" cy="65151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480073" y="1131570"/>
            <a:ext cx="1783128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17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Controller</a:t>
            </a:r>
            <a:endParaRPr sz="1100"/>
          </a:p>
        </p:txBody>
      </p:sp>
      <p:sp>
        <p:nvSpPr>
          <p:cNvPr id="164" name="Google Shape;164;p17"/>
          <p:cNvSpPr/>
          <p:nvPr/>
        </p:nvSpPr>
        <p:spPr>
          <a:xfrm>
            <a:off x="2263200" y="1131570"/>
            <a:ext cx="3154764" cy="651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2366073" y="1131570"/>
            <a:ext cx="30176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1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controller/api — REST API + PageController (MVC)</a:t>
            </a:r>
            <a:endParaRPr sz="1100"/>
          </a:p>
        </p:txBody>
      </p:sp>
      <p:sp>
        <p:nvSpPr>
          <p:cNvPr id="166" name="Google Shape;166;p17"/>
          <p:cNvSpPr/>
          <p:nvPr/>
        </p:nvSpPr>
        <p:spPr>
          <a:xfrm>
            <a:off x="480073" y="1899666"/>
            <a:ext cx="1783128" cy="65151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480073" y="1899666"/>
            <a:ext cx="1783128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17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Service</a:t>
            </a:r>
            <a:endParaRPr sz="1100"/>
          </a:p>
        </p:txBody>
      </p:sp>
      <p:sp>
        <p:nvSpPr>
          <p:cNvPr id="168" name="Google Shape;168;p17"/>
          <p:cNvSpPr/>
          <p:nvPr/>
        </p:nvSpPr>
        <p:spPr>
          <a:xfrm>
            <a:off x="2263200" y="1899666"/>
            <a:ext cx="3154764" cy="651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2366073" y="1899666"/>
            <a:ext cx="30176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1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service + implementation — Business Logic, State</a:t>
            </a:r>
            <a:endParaRPr sz="1100"/>
          </a:p>
        </p:txBody>
      </p:sp>
      <p:sp>
        <p:nvSpPr>
          <p:cNvPr id="170" name="Google Shape;170;p17"/>
          <p:cNvSpPr/>
          <p:nvPr/>
        </p:nvSpPr>
        <p:spPr>
          <a:xfrm>
            <a:off x="480073" y="2667762"/>
            <a:ext cx="1783128" cy="65151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480073" y="2667762"/>
            <a:ext cx="1783128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17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Repository</a:t>
            </a:r>
            <a:endParaRPr sz="1100"/>
          </a:p>
        </p:txBody>
      </p:sp>
      <p:sp>
        <p:nvSpPr>
          <p:cNvPr id="172" name="Google Shape;172;p17"/>
          <p:cNvSpPr/>
          <p:nvPr/>
        </p:nvSpPr>
        <p:spPr>
          <a:xfrm>
            <a:off x="2263200" y="2667762"/>
            <a:ext cx="3154764" cy="651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2366073" y="2667762"/>
            <a:ext cx="30176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1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Spring Data JPA — เข้าถึงฐานข้อมูล</a:t>
            </a:r>
            <a:endParaRPr sz="1100"/>
          </a:p>
        </p:txBody>
      </p:sp>
      <p:sp>
        <p:nvSpPr>
          <p:cNvPr id="174" name="Google Shape;174;p17"/>
          <p:cNvSpPr/>
          <p:nvPr/>
        </p:nvSpPr>
        <p:spPr>
          <a:xfrm>
            <a:off x="480073" y="3435858"/>
            <a:ext cx="1783128" cy="65151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480073" y="3435858"/>
            <a:ext cx="1783128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17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Model</a:t>
            </a:r>
            <a:endParaRPr sz="1100"/>
          </a:p>
        </p:txBody>
      </p:sp>
      <p:sp>
        <p:nvSpPr>
          <p:cNvPr id="176" name="Google Shape;176;p17"/>
          <p:cNvSpPr/>
          <p:nvPr/>
        </p:nvSpPr>
        <p:spPr>
          <a:xfrm>
            <a:off x="2263200" y="3435858"/>
            <a:ext cx="3154764" cy="651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2366073" y="3435858"/>
            <a:ext cx="30176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1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Entity 8 ตัว: User, Sellerprofile, Artwork, Bidding, ...</a:t>
            </a:r>
            <a:endParaRPr sz="1100"/>
          </a:p>
        </p:txBody>
      </p:sp>
      <p:sp>
        <p:nvSpPr>
          <p:cNvPr id="178" name="Google Shape;178;p17"/>
          <p:cNvSpPr/>
          <p:nvPr/>
        </p:nvSpPr>
        <p:spPr>
          <a:xfrm>
            <a:off x="5692292" y="1131570"/>
            <a:ext cx="30176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5692292" y="1131570"/>
            <a:ext cx="3017600" cy="4114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5760874" y="1131570"/>
            <a:ext cx="2880437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14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Tech Stack</a:t>
            </a:r>
            <a:endParaRPr sz="1100"/>
          </a:p>
        </p:txBody>
      </p:sp>
      <p:sp>
        <p:nvSpPr>
          <p:cNvPr id="181" name="Google Shape;181;p17"/>
          <p:cNvSpPr txBox="1"/>
          <p:nvPr/>
        </p:nvSpPr>
        <p:spPr>
          <a:xfrm>
            <a:off x="5795164" y="1611629"/>
            <a:ext cx="2811855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1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Java 26 + Spring Boot 4.1.1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1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Spring Data JPA / Hibernate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1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Spring Security (BCrypt, Role)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1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Thymeleaf (View) + PostgreSQL</a:t>
            </a:r>
            <a:endParaRPr sz="1100"/>
          </a:p>
        </p:txBody>
      </p:sp>
      <p:sp>
        <p:nvSpPr>
          <p:cNvPr id="182" name="Google Shape;182;p17"/>
          <p:cNvSpPr/>
          <p:nvPr/>
        </p:nvSpPr>
        <p:spPr>
          <a:xfrm>
            <a:off x="5692292" y="2948940"/>
            <a:ext cx="30176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5692292" y="2948940"/>
            <a:ext cx="3017600" cy="41148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5760874" y="2948940"/>
            <a:ext cx="2880437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14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ส่วนประกอบเสริม</a:t>
            </a:r>
            <a:endParaRPr sz="1100"/>
          </a:p>
        </p:txBody>
      </p:sp>
      <p:sp>
        <p:nvSpPr>
          <p:cNvPr id="185" name="Google Shape;185;p17"/>
          <p:cNvSpPr txBox="1"/>
          <p:nvPr/>
        </p:nvSpPr>
        <p:spPr>
          <a:xfrm>
            <a:off x="5795164" y="3429000"/>
            <a:ext cx="2811855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1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DTO + Mapper, GlobalExceptionHandler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1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Scheduler ปิดประมูล/หมดเวลาชำระเงิน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1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Swagger (springdoc) + Docker Compose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8366979" y="4732020"/>
            <a:ext cx="617100" cy="28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th" sz="1400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rPr>
              <a:t>5</a:t>
            </a:r>
            <a:endParaRPr b="0" sz="1400">
              <a:solidFill>
                <a:srgbClr val="555B6E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pic>
        <p:nvPicPr>
          <p:cNvPr id="192" name="Google Shape;1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972" y="35250"/>
            <a:ext cx="6464356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18"/>
          <p:cNvGrpSpPr/>
          <p:nvPr/>
        </p:nvGrpSpPr>
        <p:grpSpPr>
          <a:xfrm>
            <a:off x="8016588" y="-4000500"/>
            <a:ext cx="1127412" cy="9144006"/>
            <a:chOff x="8022888" y="-3992825"/>
            <a:chExt cx="1127412" cy="9144006"/>
          </a:xfrm>
        </p:grpSpPr>
        <p:sp>
          <p:nvSpPr>
            <p:cNvPr id="194" name="Google Shape;194;p18"/>
            <p:cNvSpPr/>
            <p:nvPr/>
          </p:nvSpPr>
          <p:spPr>
            <a:xfrm rot="5400000">
              <a:off x="4035150" y="36025"/>
              <a:ext cx="9144000" cy="1086300"/>
            </a:xfrm>
            <a:prstGeom prst="rect">
              <a:avLst/>
            </a:prstGeom>
            <a:solidFill>
              <a:srgbClr val="1F2A4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8"/>
            <p:cNvSpPr/>
            <p:nvPr/>
          </p:nvSpPr>
          <p:spPr>
            <a:xfrm rot="5400000">
              <a:off x="3471438" y="558631"/>
              <a:ext cx="9144000" cy="41100"/>
            </a:xfrm>
            <a:prstGeom prst="rect">
              <a:avLst/>
            </a:prstGeom>
            <a:solidFill>
              <a:srgbClr val="C99A2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18"/>
          <p:cNvSpPr txBox="1"/>
          <p:nvPr/>
        </p:nvSpPr>
        <p:spPr>
          <a:xfrm rot="5400000">
            <a:off x="6759325" y="2715949"/>
            <a:ext cx="37362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th" sz="26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Class Diagram</a:t>
            </a:r>
            <a:endParaRPr b="1" sz="2600">
              <a:solidFill>
                <a:srgbClr val="FFFFFF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th" sz="26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(GoF Patterns)</a:t>
            </a:r>
            <a:endParaRPr b="1" sz="2600">
              <a:solidFill>
                <a:srgbClr val="FFFFFF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0" y="0"/>
            <a:ext cx="2656500" cy="51435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 rot="-5400000">
            <a:off x="-1901426" y="2635950"/>
            <a:ext cx="9144000" cy="411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256043" y="188875"/>
            <a:ext cx="21444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h" sz="26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ER Diagram</a:t>
            </a:r>
            <a:endParaRPr sz="1100"/>
          </a:p>
        </p:txBody>
      </p:sp>
      <p:sp>
        <p:nvSpPr>
          <p:cNvPr id="205" name="Google Shape;205;p19"/>
          <p:cNvSpPr txBox="1"/>
          <p:nvPr/>
        </p:nvSpPr>
        <p:spPr>
          <a:xfrm>
            <a:off x="8366983" y="4732020"/>
            <a:ext cx="617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th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rPr>
              <a:t>6</a:t>
            </a:r>
            <a:endParaRPr/>
          </a:p>
        </p:txBody>
      </p:sp>
      <p:pic>
        <p:nvPicPr>
          <p:cNvPr id="206" name="Google Shape;206;p19"/>
          <p:cNvPicPr preferRelativeResize="0"/>
          <p:nvPr/>
        </p:nvPicPr>
        <p:blipFill rotWithShape="1">
          <a:blip r:embed="rId3">
            <a:alphaModFix/>
          </a:blip>
          <a:srcRect b="0" l="0" r="0" t="3176"/>
          <a:stretch/>
        </p:blipFill>
        <p:spPr>
          <a:xfrm>
            <a:off x="3071375" y="-46087"/>
            <a:ext cx="4517900" cy="5235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900" y="934950"/>
            <a:ext cx="1608700" cy="1845775"/>
          </a:xfrm>
          <a:prstGeom prst="rect">
            <a:avLst/>
          </a:prstGeom>
          <a:solidFill>
            <a:srgbClr val="F5F1E8"/>
          </a:solidFill>
          <a:ln>
            <a:noFill/>
          </a:ln>
        </p:spPr>
      </p:pic>
      <p:pic>
        <p:nvPicPr>
          <p:cNvPr id="208" name="Google Shape;20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188" y="3297825"/>
            <a:ext cx="2198124" cy="12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0" y="0"/>
            <a:ext cx="9144000" cy="857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0" y="857250"/>
            <a:ext cx="9144000" cy="411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219466" y="188820"/>
            <a:ext cx="78870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26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3. Database Design</a:t>
            </a:r>
            <a:endParaRPr sz="1100"/>
          </a:p>
        </p:txBody>
      </p:sp>
      <p:sp>
        <p:nvSpPr>
          <p:cNvPr id="217" name="Google Shape;217;p20"/>
          <p:cNvSpPr txBox="1"/>
          <p:nvPr/>
        </p:nvSpPr>
        <p:spPr>
          <a:xfrm>
            <a:off x="8409008" y="4703545"/>
            <a:ext cx="617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th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rPr>
              <a:t>7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342909" y="1097280"/>
            <a:ext cx="2023200" cy="9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342909" y="1097280"/>
            <a:ext cx="2023200" cy="4116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411491" y="1097280"/>
            <a:ext cx="1886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14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User</a:t>
            </a:r>
            <a:endParaRPr sz="1100"/>
          </a:p>
        </p:txBody>
      </p:sp>
      <p:sp>
        <p:nvSpPr>
          <p:cNvPr id="221" name="Google Shape;221;p20"/>
          <p:cNvSpPr txBox="1"/>
          <p:nvPr/>
        </p:nvSpPr>
        <p:spPr>
          <a:xfrm>
            <a:off x="445782" y="1577340"/>
            <a:ext cx="181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0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id, name, email, role, enabled</a:t>
            </a:r>
            <a:endParaRPr sz="1100"/>
          </a:p>
        </p:txBody>
      </p:sp>
      <p:sp>
        <p:nvSpPr>
          <p:cNvPr id="222" name="Google Shape;222;p20"/>
          <p:cNvSpPr/>
          <p:nvPr/>
        </p:nvSpPr>
        <p:spPr>
          <a:xfrm>
            <a:off x="2503237" y="1097280"/>
            <a:ext cx="2023200" cy="9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2503237" y="1097280"/>
            <a:ext cx="2023200" cy="4116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2571819" y="1097280"/>
            <a:ext cx="1886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14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Sellerprofile</a:t>
            </a:r>
            <a:endParaRPr sz="1100"/>
          </a:p>
        </p:txBody>
      </p:sp>
      <p:sp>
        <p:nvSpPr>
          <p:cNvPr id="225" name="Google Shape;225;p20"/>
          <p:cNvSpPr txBox="1"/>
          <p:nvPr/>
        </p:nvSpPr>
        <p:spPr>
          <a:xfrm>
            <a:off x="2606109" y="1577340"/>
            <a:ext cx="1817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0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bankaccount, rating, salecount</a:t>
            </a:r>
            <a:endParaRPr sz="1100"/>
          </a:p>
        </p:txBody>
      </p:sp>
      <p:sp>
        <p:nvSpPr>
          <p:cNvPr id="226" name="Google Shape;226;p20"/>
          <p:cNvSpPr/>
          <p:nvPr/>
        </p:nvSpPr>
        <p:spPr>
          <a:xfrm>
            <a:off x="4663564" y="1097280"/>
            <a:ext cx="2023200" cy="9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4663564" y="1097280"/>
            <a:ext cx="2023200" cy="4116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4732145" y="1097280"/>
            <a:ext cx="1886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14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Artwork</a:t>
            </a:r>
            <a:endParaRPr sz="1100"/>
          </a:p>
        </p:txBody>
      </p:sp>
      <p:sp>
        <p:nvSpPr>
          <p:cNvPr id="229" name="Google Shape;229;p20"/>
          <p:cNvSpPr txBox="1"/>
          <p:nvPr/>
        </p:nvSpPr>
        <p:spPr>
          <a:xfrm>
            <a:off x="4766437" y="1577340"/>
            <a:ext cx="181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0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title, imageUrl, seller</a:t>
            </a:r>
            <a:endParaRPr sz="1100"/>
          </a:p>
        </p:txBody>
      </p:sp>
      <p:sp>
        <p:nvSpPr>
          <p:cNvPr id="230" name="Google Shape;230;p20"/>
          <p:cNvSpPr/>
          <p:nvPr/>
        </p:nvSpPr>
        <p:spPr>
          <a:xfrm>
            <a:off x="6823892" y="1097280"/>
            <a:ext cx="2023200" cy="9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6823892" y="1097280"/>
            <a:ext cx="2023200" cy="4116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6892473" y="1097280"/>
            <a:ext cx="1886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14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Bidding</a:t>
            </a:r>
            <a:endParaRPr sz="1100"/>
          </a:p>
        </p:txBody>
      </p:sp>
      <p:sp>
        <p:nvSpPr>
          <p:cNvPr id="233" name="Google Shape;233;p20"/>
          <p:cNvSpPr txBox="1"/>
          <p:nvPr/>
        </p:nvSpPr>
        <p:spPr>
          <a:xfrm>
            <a:off x="6926765" y="1577340"/>
            <a:ext cx="181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0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startingPrice, lastBid, status</a:t>
            </a:r>
            <a:endParaRPr sz="1100"/>
          </a:p>
        </p:txBody>
      </p:sp>
      <p:sp>
        <p:nvSpPr>
          <p:cNvPr id="234" name="Google Shape;234;p20"/>
          <p:cNvSpPr/>
          <p:nvPr/>
        </p:nvSpPr>
        <p:spPr>
          <a:xfrm>
            <a:off x="342909" y="2160270"/>
            <a:ext cx="2023200" cy="9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342909" y="2160270"/>
            <a:ext cx="2023200" cy="4116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411491" y="2160270"/>
            <a:ext cx="1886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14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BidAction</a:t>
            </a:r>
            <a:endParaRPr sz="1100"/>
          </a:p>
        </p:txBody>
      </p:sp>
      <p:sp>
        <p:nvSpPr>
          <p:cNvPr id="237" name="Google Shape;237;p20"/>
          <p:cNvSpPr txBox="1"/>
          <p:nvPr/>
        </p:nvSpPr>
        <p:spPr>
          <a:xfrm>
            <a:off x="445782" y="2640330"/>
            <a:ext cx="1817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0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amount, status (VALID/VOIDED)</a:t>
            </a:r>
            <a:endParaRPr sz="1100"/>
          </a:p>
        </p:txBody>
      </p:sp>
      <p:sp>
        <p:nvSpPr>
          <p:cNvPr id="238" name="Google Shape;238;p20"/>
          <p:cNvSpPr/>
          <p:nvPr/>
        </p:nvSpPr>
        <p:spPr>
          <a:xfrm>
            <a:off x="2503237" y="2160270"/>
            <a:ext cx="2023200" cy="9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2503237" y="2160270"/>
            <a:ext cx="2023200" cy="4116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2571819" y="2160270"/>
            <a:ext cx="1886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14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Comment</a:t>
            </a:r>
            <a:endParaRPr sz="1100"/>
          </a:p>
        </p:txBody>
      </p:sp>
      <p:sp>
        <p:nvSpPr>
          <p:cNvPr id="241" name="Google Shape;241;p20"/>
          <p:cNvSpPr txBox="1"/>
          <p:nvPr/>
        </p:nvSpPr>
        <p:spPr>
          <a:xfrm>
            <a:off x="2606109" y="2640330"/>
            <a:ext cx="181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0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message, thumbsup/down</a:t>
            </a:r>
            <a:endParaRPr sz="1100"/>
          </a:p>
        </p:txBody>
      </p:sp>
      <p:sp>
        <p:nvSpPr>
          <p:cNvPr id="242" name="Google Shape;242;p20"/>
          <p:cNvSpPr/>
          <p:nvPr/>
        </p:nvSpPr>
        <p:spPr>
          <a:xfrm>
            <a:off x="4663564" y="2160270"/>
            <a:ext cx="2023200" cy="9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4663564" y="2160270"/>
            <a:ext cx="2023200" cy="4116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4732145" y="2160270"/>
            <a:ext cx="1886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14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CommentReaction</a:t>
            </a:r>
            <a:endParaRPr sz="1100"/>
          </a:p>
        </p:txBody>
      </p:sp>
      <p:sp>
        <p:nvSpPr>
          <p:cNvPr id="245" name="Google Shape;245;p20"/>
          <p:cNvSpPr txBox="1"/>
          <p:nvPr/>
        </p:nvSpPr>
        <p:spPr>
          <a:xfrm>
            <a:off x="4766437" y="2640330"/>
            <a:ext cx="181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0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type (LIKE/DISLIKE)</a:t>
            </a:r>
            <a:endParaRPr sz="1100"/>
          </a:p>
        </p:txBody>
      </p:sp>
      <p:sp>
        <p:nvSpPr>
          <p:cNvPr id="246" name="Google Shape;246;p20"/>
          <p:cNvSpPr/>
          <p:nvPr/>
        </p:nvSpPr>
        <p:spPr>
          <a:xfrm>
            <a:off x="6823892" y="2160270"/>
            <a:ext cx="2023200" cy="9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6823892" y="2160270"/>
            <a:ext cx="2023200" cy="4116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6892473" y="2160270"/>
            <a:ext cx="1886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14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Payment</a:t>
            </a:r>
            <a:endParaRPr sz="1100"/>
          </a:p>
        </p:txBody>
      </p:sp>
      <p:sp>
        <p:nvSpPr>
          <p:cNvPr id="249" name="Google Shape;249;p20"/>
          <p:cNvSpPr txBox="1"/>
          <p:nvPr/>
        </p:nvSpPr>
        <p:spPr>
          <a:xfrm>
            <a:off x="6926765" y="2640330"/>
            <a:ext cx="181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0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amount, status, slip, tracking</a:t>
            </a:r>
            <a:endParaRPr sz="1100"/>
          </a:p>
        </p:txBody>
      </p:sp>
      <p:sp>
        <p:nvSpPr>
          <p:cNvPr id="250" name="Google Shape;250;p20"/>
          <p:cNvSpPr txBox="1"/>
          <p:nvPr/>
        </p:nvSpPr>
        <p:spPr>
          <a:xfrm>
            <a:off x="411491" y="3291840"/>
            <a:ext cx="83670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3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ความสัมพันธ์หลัก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3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• User 1:1 Sellerprofile  |  Sellerprofile 1:N Artwork  |  Bidding N:N Artwork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3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• Bidding 1:N BidAction / Comment  |  Comment 1:N CommentReaction (unique ต่อ user)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3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• Bidding 1:1 Payment  |  User 1:N Bidding (owner/winner)  |  Payment N:1 Sellerprofile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0" y="0"/>
            <a:ext cx="9144015" cy="85725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0" y="857250"/>
            <a:ext cx="9144015" cy="41148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411491" y="102870"/>
            <a:ext cx="7887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26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4. Design Patterns</a:t>
            </a:r>
            <a:endParaRPr sz="1100"/>
          </a:p>
        </p:txBody>
      </p:sp>
      <p:sp>
        <p:nvSpPr>
          <p:cNvPr id="259" name="Google Shape;259;p21"/>
          <p:cNvSpPr txBox="1"/>
          <p:nvPr/>
        </p:nvSpPr>
        <p:spPr>
          <a:xfrm>
            <a:off x="8366983" y="4732020"/>
            <a:ext cx="617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th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rPr>
              <a:t>8</a:t>
            </a:r>
            <a:endParaRPr/>
          </a:p>
        </p:txBody>
      </p:sp>
      <p:sp>
        <p:nvSpPr>
          <p:cNvPr id="260" name="Google Shape;260;p21"/>
          <p:cNvSpPr/>
          <p:nvPr/>
        </p:nvSpPr>
        <p:spPr>
          <a:xfrm>
            <a:off x="411491" y="1097280"/>
            <a:ext cx="411491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411491" y="1097280"/>
            <a:ext cx="4114910" cy="4114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480073" y="1097280"/>
            <a:ext cx="397774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14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Enterprise / Architectural</a:t>
            </a:r>
            <a:endParaRPr sz="1100"/>
          </a:p>
        </p:txBody>
      </p:sp>
      <p:sp>
        <p:nvSpPr>
          <p:cNvPr id="263" name="Google Shape;263;p21"/>
          <p:cNvSpPr txBox="1"/>
          <p:nvPr/>
        </p:nvSpPr>
        <p:spPr>
          <a:xfrm>
            <a:off x="514364" y="1577340"/>
            <a:ext cx="3909164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4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• Layered Architecture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4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• MVC — controller / model / JSON view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4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• Repository — Spring Data JPA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4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• Service Layer — interface + Impl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4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• DTO + Mapper — แยก Entity จาก API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4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• Dependency Injection — Constructor</a:t>
            </a:r>
            <a:endParaRPr sz="1100"/>
          </a:p>
        </p:txBody>
      </p:sp>
      <p:sp>
        <p:nvSpPr>
          <p:cNvPr id="264" name="Google Shape;264;p21"/>
          <p:cNvSpPr/>
          <p:nvPr/>
        </p:nvSpPr>
        <p:spPr>
          <a:xfrm>
            <a:off x="4732146" y="1097280"/>
            <a:ext cx="3977746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4732146" y="1097280"/>
            <a:ext cx="3977746" cy="41148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4800728" y="1097280"/>
            <a:ext cx="384058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14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GoF ที่ใช้จริงในโค้ด</a:t>
            </a:r>
            <a:endParaRPr sz="1100"/>
          </a:p>
        </p:txBody>
      </p:sp>
      <p:sp>
        <p:nvSpPr>
          <p:cNvPr id="267" name="Google Shape;267;p21"/>
          <p:cNvSpPr txBox="1"/>
          <p:nvPr/>
        </p:nvSpPr>
        <p:spPr>
          <a:xfrm>
            <a:off x="4835019" y="1577340"/>
            <a:ext cx="37719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3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• Factory Method — ErrorResponse.of()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3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• Singleton — Spring Bean (@Service ฯลฯ)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3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• Builder — </a:t>
            </a:r>
            <a:r>
              <a:rPr lang="th" sz="1300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PaymentBuilder (เขียนเอง) ที่ใช้สร้าง Payment หลังปิดประมูล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0" y="0"/>
            <a:ext cx="9144015" cy="85725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0" y="857250"/>
            <a:ext cx="9144015" cy="41148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411491" y="102870"/>
            <a:ext cx="788691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26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4.1 State Pattern (service/state)</a:t>
            </a:r>
            <a:endParaRPr sz="1100"/>
          </a:p>
        </p:txBody>
      </p:sp>
      <p:sp>
        <p:nvSpPr>
          <p:cNvPr id="276" name="Google Shape;276;p22"/>
          <p:cNvSpPr txBox="1"/>
          <p:nvPr/>
        </p:nvSpPr>
        <p:spPr>
          <a:xfrm>
            <a:off x="8366983" y="4732020"/>
            <a:ext cx="617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th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rPr>
              <a:t>9</a:t>
            </a:r>
            <a:endParaRPr/>
          </a:p>
        </p:txBody>
      </p:sp>
      <p:sp>
        <p:nvSpPr>
          <p:cNvPr id="277" name="Google Shape;277;p22"/>
          <p:cNvSpPr/>
          <p:nvPr/>
        </p:nvSpPr>
        <p:spPr>
          <a:xfrm>
            <a:off x="411491" y="1097280"/>
            <a:ext cx="2880437" cy="6172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411491" y="1097280"/>
            <a:ext cx="2880437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14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«interface» BiddingState</a:t>
            </a:r>
            <a:endParaRPr sz="1100"/>
          </a:p>
        </p:txBody>
      </p:sp>
      <p:sp>
        <p:nvSpPr>
          <p:cNvPr id="279" name="Google Shape;279;p22"/>
          <p:cNvSpPr txBox="1"/>
          <p:nvPr/>
        </p:nvSpPr>
        <p:spPr>
          <a:xfrm>
            <a:off x="411491" y="1748790"/>
            <a:ext cx="288043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100" u="none" cap="none" strike="noStrike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rPr>
              <a:t>acceptsBids()</a:t>
            </a:r>
            <a:endParaRPr sz="1100"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100" u="none" cap="none" strike="noStrike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rPr>
              <a:t>canMoveTo(target)</a:t>
            </a:r>
            <a:endParaRPr sz="1100"/>
          </a:p>
        </p:txBody>
      </p:sp>
      <p:sp>
        <p:nvSpPr>
          <p:cNvPr id="280" name="Google Shape;280;p22"/>
          <p:cNvSpPr/>
          <p:nvPr/>
        </p:nvSpPr>
        <p:spPr>
          <a:xfrm>
            <a:off x="411491" y="2537460"/>
            <a:ext cx="925855" cy="54864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411491" y="2537460"/>
            <a:ext cx="925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8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Active</a:t>
            </a:r>
            <a:br>
              <a:rPr b="1" i="0" lang="th" sz="8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</a:br>
            <a:r>
              <a:rPr b="1" i="0" lang="th" sz="8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BiddingState</a:t>
            </a:r>
            <a:endParaRPr sz="1100"/>
          </a:p>
        </p:txBody>
      </p:sp>
      <p:sp>
        <p:nvSpPr>
          <p:cNvPr id="282" name="Google Shape;282;p22"/>
          <p:cNvSpPr/>
          <p:nvPr/>
        </p:nvSpPr>
        <p:spPr>
          <a:xfrm>
            <a:off x="1405927" y="2537460"/>
            <a:ext cx="925855" cy="54864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1405927" y="2537460"/>
            <a:ext cx="925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8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Closed</a:t>
            </a:r>
            <a:br>
              <a:rPr b="1" i="0" lang="th" sz="8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</a:br>
            <a:r>
              <a:rPr b="1" i="0" lang="th" sz="8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BiddingState</a:t>
            </a:r>
            <a:endParaRPr sz="1100"/>
          </a:p>
        </p:txBody>
      </p:sp>
      <p:sp>
        <p:nvSpPr>
          <p:cNvPr id="284" name="Google Shape;284;p22"/>
          <p:cNvSpPr/>
          <p:nvPr/>
        </p:nvSpPr>
        <p:spPr>
          <a:xfrm>
            <a:off x="2400364" y="2537460"/>
            <a:ext cx="925855" cy="54864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2400364" y="2537460"/>
            <a:ext cx="925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8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Cancelled</a:t>
            </a:r>
            <a:br>
              <a:rPr b="1" i="0" lang="th" sz="8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</a:br>
            <a:r>
              <a:rPr b="1" i="0" lang="th" sz="8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BiddingState</a:t>
            </a:r>
            <a:endParaRPr sz="1100"/>
          </a:p>
        </p:txBody>
      </p:sp>
      <p:sp>
        <p:nvSpPr>
          <p:cNvPr id="286" name="Google Shape;286;p22"/>
          <p:cNvSpPr/>
          <p:nvPr/>
        </p:nvSpPr>
        <p:spPr>
          <a:xfrm>
            <a:off x="411491" y="3360420"/>
            <a:ext cx="2880437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411491" y="3360420"/>
            <a:ext cx="2880437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11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BiddingStateResolver (EnumMap)</a:t>
            </a:r>
            <a:endParaRPr sz="1100"/>
          </a:p>
        </p:txBody>
      </p:sp>
      <p:sp>
        <p:nvSpPr>
          <p:cNvPr id="288" name="Google Shape;288;p22"/>
          <p:cNvSpPr txBox="1"/>
          <p:nvPr/>
        </p:nvSpPr>
        <p:spPr>
          <a:xfrm>
            <a:off x="411491" y="3977640"/>
            <a:ext cx="288043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100" u="none" cap="none" strike="noStrike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rPr>
              <a:t>PaymentState: 6 สถานะ ใช้โครงเดียวกัน</a:t>
            </a:r>
            <a:endParaRPr sz="1100"/>
          </a:p>
        </p:txBody>
      </p:sp>
      <p:sp>
        <p:nvSpPr>
          <p:cNvPr id="289" name="Google Shape;289;p22"/>
          <p:cNvSpPr txBox="1"/>
          <p:nvPr/>
        </p:nvSpPr>
        <p:spPr>
          <a:xfrm>
            <a:off x="3634837" y="1097280"/>
            <a:ext cx="5143637" cy="3634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3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ทำไมใช้ State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3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• Bidding และ Payment มีกฎต่างกันในแต่ละสถานะ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3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• ACTIVE → CLOSED/CANCELLED เท่านั้น, CLOSED/CANCELLED ย้ายต่อไม่ได้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3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• Payment: AWAITING → SUBMITTED → PAID → COMPLETED (หรือ EXPIRED/CANCELLED)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3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• เลิกใช้ if-else กระจายใน Service  เพิ่มสถานะใหม่ = เพิ่มคลาส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3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ผู้เรียกใช้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th" sz="1300" u="none" cap="none" strike="noStrike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rPr>
              <a:t>BiddingServiceImpl, AdminBiddingServiceImpl, AdminBidActionServiceImpl, PaymentServiceImpl, AdminPaymentServiceImpl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3"/>
          <p:cNvSpPr/>
          <p:nvPr/>
        </p:nvSpPr>
        <p:spPr>
          <a:xfrm>
            <a:off x="0" y="0"/>
            <a:ext cx="9144000" cy="857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3"/>
          <p:cNvSpPr/>
          <p:nvPr/>
        </p:nvSpPr>
        <p:spPr>
          <a:xfrm>
            <a:off x="0" y="857250"/>
            <a:ext cx="9144000" cy="38100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7" name="Google Shape;297;p23"/>
          <p:cNvGrpSpPr/>
          <p:nvPr/>
        </p:nvGrpSpPr>
        <p:grpSpPr>
          <a:xfrm>
            <a:off x="409575" y="1028700"/>
            <a:ext cx="8325000" cy="304800"/>
            <a:chOff x="0" y="0"/>
            <a:chExt cx="8325000" cy="304800"/>
          </a:xfrm>
        </p:grpSpPr>
        <p:sp>
          <p:nvSpPr>
            <p:cNvPr id="298" name="Google Shape;298;p23"/>
            <p:cNvSpPr/>
            <p:nvPr/>
          </p:nvSpPr>
          <p:spPr>
            <a:xfrm>
              <a:off x="0" y="0"/>
              <a:ext cx="8325000" cy="304800"/>
            </a:xfrm>
            <a:prstGeom prst="roundRect">
              <a:avLst>
                <a:gd fmla="val 18750" name="adj"/>
              </a:avLst>
            </a:prstGeom>
            <a:solidFill>
              <a:srgbClr val="FFFFFF"/>
            </a:solidFill>
            <a:ln cap="flat" cmpd="sng" w="9525">
              <a:solidFill>
                <a:srgbClr val="C99A2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3"/>
            <p:cNvSpPr txBox="1"/>
            <p:nvPr/>
          </p:nvSpPr>
          <p:spPr>
            <a:xfrm>
              <a:off x="142875" y="0"/>
              <a:ext cx="8039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1200">
                  <a:solidFill>
                    <a:srgbClr val="C99A2E"/>
                  </a:solidFill>
                  <a:latin typeface="Sarabun"/>
                  <a:ea typeface="Sarabun"/>
                  <a:cs typeface="Sarabun"/>
                  <a:sym typeface="Sarabun"/>
                </a:rPr>
                <a:t>Live Demo: https://auction-system-68vk.onrender.com/</a:t>
              </a:r>
              <a:endParaRPr b="1" sz="1200">
                <a:solidFill>
                  <a:srgbClr val="C99A2E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</p:grpSp>
      <p:grpSp>
        <p:nvGrpSpPr>
          <p:cNvPr id="300" name="Google Shape;300;p23"/>
          <p:cNvGrpSpPr/>
          <p:nvPr/>
        </p:nvGrpSpPr>
        <p:grpSpPr>
          <a:xfrm>
            <a:off x="342900" y="1447800"/>
            <a:ext cx="1571700" cy="2238300"/>
            <a:chOff x="0" y="0"/>
            <a:chExt cx="1571700" cy="2238300"/>
          </a:xfrm>
        </p:grpSpPr>
        <p:sp>
          <p:nvSpPr>
            <p:cNvPr id="301" name="Google Shape;301;p23"/>
            <p:cNvSpPr/>
            <p:nvPr/>
          </p:nvSpPr>
          <p:spPr>
            <a:xfrm>
              <a:off x="0" y="0"/>
              <a:ext cx="1571700" cy="22383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3"/>
            <p:cNvSpPr/>
            <p:nvPr/>
          </p:nvSpPr>
          <p:spPr>
            <a:xfrm>
              <a:off x="552450" y="152400"/>
              <a:ext cx="457200" cy="457200"/>
            </a:xfrm>
            <a:prstGeom prst="ellipse">
              <a:avLst/>
            </a:prstGeom>
            <a:solidFill>
              <a:srgbClr val="C99A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3"/>
            <p:cNvSpPr txBox="1"/>
            <p:nvPr/>
          </p:nvSpPr>
          <p:spPr>
            <a:xfrm>
              <a:off x="552450" y="1524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16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1</a:t>
              </a:r>
              <a:endParaRPr b="1" sz="16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sp>
          <p:nvSpPr>
            <p:cNvPr id="304" name="Google Shape;304;p23"/>
            <p:cNvSpPr txBox="1"/>
            <p:nvPr/>
          </p:nvSpPr>
          <p:spPr>
            <a:xfrm>
              <a:off x="95250" y="742950"/>
              <a:ext cx="138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1400">
                  <a:solidFill>
                    <a:srgbClr val="1F2A44"/>
                  </a:solidFill>
                  <a:latin typeface="Sarabun"/>
                  <a:ea typeface="Sarabun"/>
                  <a:cs typeface="Sarabun"/>
                  <a:sym typeface="Sarabun"/>
                </a:rPr>
                <a:t>สมัคร/ล็อกอิน</a:t>
              </a:r>
              <a:endParaRPr b="1" sz="1400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sp>
          <p:nvSpPr>
            <p:cNvPr id="305" name="Google Shape;305;p23"/>
            <p:cNvSpPr txBox="1"/>
            <p:nvPr/>
          </p:nvSpPr>
          <p:spPr>
            <a:xfrm>
              <a:off x="95250" y="1190625"/>
              <a:ext cx="13812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th" sz="1100">
                  <a:solidFill>
                    <a:srgbClr val="555B6E"/>
                  </a:solidFill>
                  <a:latin typeface="Sarabun"/>
                  <a:ea typeface="Sarabun"/>
                  <a:cs typeface="Sarabun"/>
                  <a:sym typeface="Sarabun"/>
                </a:rPr>
                <a:t>Seller ตั้ง Seller profile</a:t>
              </a:r>
              <a:endParaRPr b="0" sz="1100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</p:grpSp>
      <p:grpSp>
        <p:nvGrpSpPr>
          <p:cNvPr id="306" name="Google Shape;306;p23"/>
          <p:cNvGrpSpPr/>
          <p:nvPr/>
        </p:nvGrpSpPr>
        <p:grpSpPr>
          <a:xfrm>
            <a:off x="2028825" y="1447800"/>
            <a:ext cx="1571700" cy="2238300"/>
            <a:chOff x="0" y="0"/>
            <a:chExt cx="1571700" cy="2238300"/>
          </a:xfrm>
        </p:grpSpPr>
        <p:sp>
          <p:nvSpPr>
            <p:cNvPr id="307" name="Google Shape;307;p23"/>
            <p:cNvSpPr/>
            <p:nvPr/>
          </p:nvSpPr>
          <p:spPr>
            <a:xfrm>
              <a:off x="0" y="0"/>
              <a:ext cx="1571700" cy="22383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3"/>
            <p:cNvSpPr/>
            <p:nvPr/>
          </p:nvSpPr>
          <p:spPr>
            <a:xfrm>
              <a:off x="552450" y="152400"/>
              <a:ext cx="457200" cy="457200"/>
            </a:xfrm>
            <a:prstGeom prst="ellipse">
              <a:avLst/>
            </a:prstGeom>
            <a:solidFill>
              <a:srgbClr val="C99A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3"/>
            <p:cNvSpPr txBox="1"/>
            <p:nvPr/>
          </p:nvSpPr>
          <p:spPr>
            <a:xfrm>
              <a:off x="552450" y="1524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16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2</a:t>
              </a:r>
              <a:endParaRPr b="1" sz="16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sp>
          <p:nvSpPr>
            <p:cNvPr id="310" name="Google Shape;310;p23"/>
            <p:cNvSpPr txBox="1"/>
            <p:nvPr/>
          </p:nvSpPr>
          <p:spPr>
            <a:xfrm>
              <a:off x="95250" y="742950"/>
              <a:ext cx="138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1400">
                  <a:solidFill>
                    <a:srgbClr val="1F2A44"/>
                  </a:solidFill>
                  <a:latin typeface="Sarabun"/>
                  <a:ea typeface="Sarabun"/>
                  <a:cs typeface="Sarabun"/>
                  <a:sym typeface="Sarabun"/>
                </a:rPr>
                <a:t>ลงงาน + เปิดประมูล</a:t>
              </a:r>
              <a:endParaRPr b="1" sz="1400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sp>
          <p:nvSpPr>
            <p:cNvPr id="311" name="Google Shape;311;p23"/>
            <p:cNvSpPr txBox="1"/>
            <p:nvPr/>
          </p:nvSpPr>
          <p:spPr>
            <a:xfrm>
              <a:off x="95250" y="1190625"/>
              <a:ext cx="13812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th" sz="1100">
                  <a:solidFill>
                    <a:srgbClr val="555B6E"/>
                  </a:solidFill>
                  <a:latin typeface="Sarabun"/>
                  <a:ea typeface="Sarabun"/>
                  <a:cs typeface="Sarabun"/>
                  <a:sym typeface="Sarabun"/>
                </a:rPr>
                <a:t>ราคาเริ่มต้น, วันเวลาปิด</a:t>
              </a:r>
              <a:endParaRPr b="0" sz="1100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</p:grpSp>
      <p:grpSp>
        <p:nvGrpSpPr>
          <p:cNvPr id="312" name="Google Shape;312;p23"/>
          <p:cNvGrpSpPr/>
          <p:nvPr/>
        </p:nvGrpSpPr>
        <p:grpSpPr>
          <a:xfrm>
            <a:off x="3714750" y="1447800"/>
            <a:ext cx="1571700" cy="2238300"/>
            <a:chOff x="0" y="0"/>
            <a:chExt cx="1571700" cy="2238300"/>
          </a:xfrm>
        </p:grpSpPr>
        <p:sp>
          <p:nvSpPr>
            <p:cNvPr id="313" name="Google Shape;313;p23"/>
            <p:cNvSpPr/>
            <p:nvPr/>
          </p:nvSpPr>
          <p:spPr>
            <a:xfrm>
              <a:off x="0" y="0"/>
              <a:ext cx="1571700" cy="22383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3"/>
            <p:cNvSpPr/>
            <p:nvPr/>
          </p:nvSpPr>
          <p:spPr>
            <a:xfrm>
              <a:off x="552450" y="152400"/>
              <a:ext cx="457200" cy="457200"/>
            </a:xfrm>
            <a:prstGeom prst="ellipse">
              <a:avLst/>
            </a:prstGeom>
            <a:solidFill>
              <a:srgbClr val="C99A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3"/>
            <p:cNvSpPr txBox="1"/>
            <p:nvPr/>
          </p:nvSpPr>
          <p:spPr>
            <a:xfrm>
              <a:off x="552450" y="1524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16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3</a:t>
              </a:r>
              <a:endParaRPr b="1" sz="16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sp>
          <p:nvSpPr>
            <p:cNvPr id="316" name="Google Shape;316;p23"/>
            <p:cNvSpPr txBox="1"/>
            <p:nvPr/>
          </p:nvSpPr>
          <p:spPr>
            <a:xfrm>
              <a:off x="95250" y="742950"/>
              <a:ext cx="138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1400">
                  <a:solidFill>
                    <a:srgbClr val="1F2A44"/>
                  </a:solidFill>
                  <a:latin typeface="Sarabun"/>
                  <a:ea typeface="Sarabun"/>
                  <a:cs typeface="Sarabun"/>
                  <a:sym typeface="Sarabun"/>
                </a:rPr>
                <a:t>เสนอราคา</a:t>
              </a:r>
              <a:endParaRPr b="1" sz="1400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sp>
          <p:nvSpPr>
            <p:cNvPr id="317" name="Google Shape;317;p23"/>
            <p:cNvSpPr txBox="1"/>
            <p:nvPr/>
          </p:nvSpPr>
          <p:spPr>
            <a:xfrm>
              <a:off x="95250" y="1190625"/>
              <a:ext cx="13812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th" sz="1100">
                  <a:solidFill>
                    <a:srgbClr val="555B6E"/>
                  </a:solidFill>
                  <a:latin typeface="Sarabun"/>
                  <a:ea typeface="Sarabun"/>
                  <a:cs typeface="Sarabun"/>
                  <a:sym typeface="Sarabun"/>
                </a:rPr>
                <a:t>ผู้ซื้อ bid + คอมเมนต์</a:t>
              </a:r>
              <a:endParaRPr b="0" sz="1100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</p:grpSp>
      <p:grpSp>
        <p:nvGrpSpPr>
          <p:cNvPr id="318" name="Google Shape;318;p23"/>
          <p:cNvGrpSpPr/>
          <p:nvPr/>
        </p:nvGrpSpPr>
        <p:grpSpPr>
          <a:xfrm>
            <a:off x="5400675" y="1447800"/>
            <a:ext cx="1571700" cy="2238300"/>
            <a:chOff x="0" y="0"/>
            <a:chExt cx="1571700" cy="2238300"/>
          </a:xfrm>
        </p:grpSpPr>
        <p:sp>
          <p:nvSpPr>
            <p:cNvPr id="319" name="Google Shape;319;p23"/>
            <p:cNvSpPr/>
            <p:nvPr/>
          </p:nvSpPr>
          <p:spPr>
            <a:xfrm>
              <a:off x="0" y="0"/>
              <a:ext cx="1571700" cy="22383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3"/>
            <p:cNvSpPr/>
            <p:nvPr/>
          </p:nvSpPr>
          <p:spPr>
            <a:xfrm>
              <a:off x="552450" y="152400"/>
              <a:ext cx="457200" cy="457200"/>
            </a:xfrm>
            <a:prstGeom prst="ellipse">
              <a:avLst/>
            </a:prstGeom>
            <a:solidFill>
              <a:srgbClr val="C99A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3"/>
            <p:cNvSpPr txBox="1"/>
            <p:nvPr/>
          </p:nvSpPr>
          <p:spPr>
            <a:xfrm>
              <a:off x="552450" y="1524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16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4</a:t>
              </a:r>
              <a:endParaRPr b="1" sz="16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sp>
          <p:nvSpPr>
            <p:cNvPr id="322" name="Google Shape;322;p23"/>
            <p:cNvSpPr txBox="1"/>
            <p:nvPr/>
          </p:nvSpPr>
          <p:spPr>
            <a:xfrm>
              <a:off x="95250" y="742950"/>
              <a:ext cx="138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1400">
                  <a:solidFill>
                    <a:srgbClr val="1F2A44"/>
                  </a:solidFill>
                  <a:latin typeface="Sarabun"/>
                  <a:ea typeface="Sarabun"/>
                  <a:cs typeface="Sarabun"/>
                  <a:sym typeface="Sarabun"/>
                </a:rPr>
                <a:t>ปิดประมูล</a:t>
              </a:r>
              <a:endParaRPr b="1" sz="1400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sp>
          <p:nvSpPr>
            <p:cNvPr id="323" name="Google Shape;323;p23"/>
            <p:cNvSpPr txBox="1"/>
            <p:nvPr/>
          </p:nvSpPr>
          <p:spPr>
            <a:xfrm>
              <a:off x="95250" y="1190625"/>
              <a:ext cx="13812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th" sz="1100">
                  <a:solidFill>
                    <a:srgbClr val="555B6E"/>
                  </a:solidFill>
                  <a:latin typeface="Sarabun"/>
                  <a:ea typeface="Sarabun"/>
                  <a:cs typeface="Sarabun"/>
                  <a:sym typeface="Sarabun"/>
                </a:rPr>
                <a:t>Scheduler ประกาศผู้ชนะ สร้าง Payment</a:t>
              </a:r>
              <a:endParaRPr b="0" sz="1100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</p:grpSp>
      <p:grpSp>
        <p:nvGrpSpPr>
          <p:cNvPr id="324" name="Google Shape;324;p23"/>
          <p:cNvGrpSpPr/>
          <p:nvPr/>
        </p:nvGrpSpPr>
        <p:grpSpPr>
          <a:xfrm>
            <a:off x="7086600" y="1447800"/>
            <a:ext cx="1571700" cy="2238300"/>
            <a:chOff x="0" y="0"/>
            <a:chExt cx="1571700" cy="2238300"/>
          </a:xfrm>
        </p:grpSpPr>
        <p:sp>
          <p:nvSpPr>
            <p:cNvPr id="325" name="Google Shape;325;p23"/>
            <p:cNvSpPr/>
            <p:nvPr/>
          </p:nvSpPr>
          <p:spPr>
            <a:xfrm>
              <a:off x="0" y="0"/>
              <a:ext cx="1571700" cy="2238300"/>
            </a:xfrm>
            <a:prstGeom prst="roundRect">
              <a:avLst>
                <a:gd fmla="val 242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3"/>
            <p:cNvSpPr/>
            <p:nvPr/>
          </p:nvSpPr>
          <p:spPr>
            <a:xfrm>
              <a:off x="552450" y="152400"/>
              <a:ext cx="457200" cy="457200"/>
            </a:xfrm>
            <a:prstGeom prst="ellipse">
              <a:avLst/>
            </a:prstGeom>
            <a:solidFill>
              <a:srgbClr val="C99A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3"/>
            <p:cNvSpPr txBox="1"/>
            <p:nvPr/>
          </p:nvSpPr>
          <p:spPr>
            <a:xfrm>
              <a:off x="552450" y="1524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16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5</a:t>
              </a:r>
              <a:endParaRPr b="1" sz="16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sp>
          <p:nvSpPr>
            <p:cNvPr id="328" name="Google Shape;328;p23"/>
            <p:cNvSpPr txBox="1"/>
            <p:nvPr/>
          </p:nvSpPr>
          <p:spPr>
            <a:xfrm>
              <a:off x="95250" y="742950"/>
              <a:ext cx="1381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1400">
                  <a:solidFill>
                    <a:srgbClr val="1F2A44"/>
                  </a:solidFill>
                  <a:latin typeface="Sarabun"/>
                  <a:ea typeface="Sarabun"/>
                  <a:cs typeface="Sarabun"/>
                  <a:sym typeface="Sarabun"/>
                </a:rPr>
                <a:t>ชำระเงิน/จัดส่ง</a:t>
              </a:r>
              <a:endParaRPr b="1" sz="1400">
                <a:solidFill>
                  <a:srgbClr val="1F2A44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sp>
          <p:nvSpPr>
            <p:cNvPr id="329" name="Google Shape;329;p23"/>
            <p:cNvSpPr txBox="1"/>
            <p:nvPr/>
          </p:nvSpPr>
          <p:spPr>
            <a:xfrm>
              <a:off x="95250" y="1190625"/>
              <a:ext cx="13812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th" sz="1100">
                  <a:solidFill>
                    <a:srgbClr val="555B6E"/>
                  </a:solidFill>
                  <a:latin typeface="Sarabun"/>
                  <a:ea typeface="Sarabun"/>
                  <a:cs typeface="Sarabun"/>
                  <a:sym typeface="Sarabun"/>
                </a:rPr>
                <a:t>ส่งสลิป → Admin ยืนยัน → ใส่ Tracking</a:t>
              </a:r>
              <a:endParaRPr b="0" sz="1100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</p:grpSp>
      <p:grpSp>
        <p:nvGrpSpPr>
          <p:cNvPr id="330" name="Google Shape;330;p23"/>
          <p:cNvGrpSpPr/>
          <p:nvPr/>
        </p:nvGrpSpPr>
        <p:grpSpPr>
          <a:xfrm>
            <a:off x="409575" y="3905250"/>
            <a:ext cx="8325000" cy="619200"/>
            <a:chOff x="0" y="0"/>
            <a:chExt cx="8325000" cy="619200"/>
          </a:xfrm>
        </p:grpSpPr>
        <p:sp>
          <p:nvSpPr>
            <p:cNvPr id="331" name="Google Shape;331;p23"/>
            <p:cNvSpPr/>
            <p:nvPr/>
          </p:nvSpPr>
          <p:spPr>
            <a:xfrm>
              <a:off x="0" y="0"/>
              <a:ext cx="8325000" cy="619200"/>
            </a:xfrm>
            <a:prstGeom prst="roundRect">
              <a:avLst>
                <a:gd fmla="val 9230" name="adj"/>
              </a:avLst>
            </a:prstGeom>
            <a:solidFill>
              <a:srgbClr val="1F2A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3"/>
            <p:cNvSpPr txBox="1"/>
            <p:nvPr/>
          </p:nvSpPr>
          <p:spPr>
            <a:xfrm>
              <a:off x="190500" y="114300"/>
              <a:ext cx="7943700" cy="3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1300">
                  <a:solidFill>
                    <a:srgbClr val="FFFFFF"/>
                  </a:solidFill>
                  <a:latin typeface="Sarabun"/>
                  <a:ea typeface="Sarabun"/>
                  <a:cs typeface="Sarabun"/>
                  <a:sym typeface="Sarabun"/>
                </a:rPr>
                <a:t>ฟีเจอร์ Admin: </a:t>
              </a:r>
              <a:r>
                <a:rPr b="0" lang="th" sz="1300">
                  <a:solidFill>
                    <a:srgbClr val="F5F1E8"/>
                  </a:solidFill>
                  <a:latin typeface="Sarabun"/>
                  <a:ea typeface="Sarabun"/>
                  <a:cs typeface="Sarabun"/>
                  <a:sym typeface="Sarabun"/>
                </a:rPr>
                <a:t>ยกเลิกประมูล, void bid, ลบคอมเมนต์/งาน, ระงับผู้ใช้</a:t>
              </a:r>
              <a:endParaRPr b="1" sz="13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</p:grpSp>
      <p:sp>
        <p:nvSpPr>
          <p:cNvPr id="333" name="Google Shape;333;p23"/>
          <p:cNvSpPr txBox="1"/>
          <p:nvPr/>
        </p:nvSpPr>
        <p:spPr>
          <a:xfrm>
            <a:off x="8366983" y="4732020"/>
            <a:ext cx="617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th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rPr>
              <a:t>10</a:t>
            </a:r>
            <a:endParaRPr/>
          </a:p>
        </p:txBody>
      </p:sp>
      <p:sp>
        <p:nvSpPr>
          <p:cNvPr id="334" name="Google Shape;334;p23"/>
          <p:cNvSpPr txBox="1"/>
          <p:nvPr/>
        </p:nvSpPr>
        <p:spPr>
          <a:xfrm>
            <a:off x="404343" y="209308"/>
            <a:ext cx="78870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h" sz="26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5. Demo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4"/>
          <p:cNvSpPr/>
          <p:nvPr/>
        </p:nvSpPr>
        <p:spPr>
          <a:xfrm>
            <a:off x="3566255" y="2811779"/>
            <a:ext cx="1988873" cy="48006"/>
          </a:xfrm>
          <a:prstGeom prst="rect">
            <a:avLst/>
          </a:prstGeom>
          <a:solidFill>
            <a:srgbClr val="C99A2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4"/>
          <p:cNvSpPr txBox="1"/>
          <p:nvPr/>
        </p:nvSpPr>
        <p:spPr>
          <a:xfrm>
            <a:off x="0" y="1577340"/>
            <a:ext cx="914401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5400" u="none" cap="none" strike="noStrike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Q &amp; A</a:t>
            </a:r>
            <a:endParaRPr sz="1100"/>
          </a:p>
        </p:txBody>
      </p:sp>
      <p:sp>
        <p:nvSpPr>
          <p:cNvPr id="342" name="Google Shape;342;p24"/>
          <p:cNvSpPr txBox="1"/>
          <p:nvPr/>
        </p:nvSpPr>
        <p:spPr>
          <a:xfrm>
            <a:off x="0" y="3017520"/>
            <a:ext cx="9144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h" sz="2100" u="none" cap="none" strike="noStrike">
                <a:solidFill>
                  <a:srgbClr val="C99A2E"/>
                </a:solidFill>
                <a:latin typeface="Sarabun"/>
                <a:ea typeface="Sarabun"/>
                <a:cs typeface="Sarabun"/>
                <a:sym typeface="Sarabun"/>
              </a:rPr>
              <a:t>ขอบคุณครับ</a:t>
            </a:r>
            <a:endParaRPr sz="1100"/>
          </a:p>
        </p:txBody>
      </p:sp>
      <p:sp>
        <p:nvSpPr>
          <p:cNvPr id="343" name="Google Shape;343;p24"/>
          <p:cNvSpPr txBox="1"/>
          <p:nvPr/>
        </p:nvSpPr>
        <p:spPr>
          <a:xfrm>
            <a:off x="8366983" y="4732020"/>
            <a:ext cx="617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th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11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/>
          <p:nvPr/>
        </p:nvSpPr>
        <p:spPr>
          <a:xfrm>
            <a:off x="-38400" y="0"/>
            <a:ext cx="9144000" cy="51435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5"/>
          <p:cNvSpPr txBox="1"/>
          <p:nvPr/>
        </p:nvSpPr>
        <p:spPr>
          <a:xfrm>
            <a:off x="173141" y="79020"/>
            <a:ext cx="7887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50" name="Google Shape;350;p25"/>
          <p:cNvSpPr txBox="1"/>
          <p:nvPr/>
        </p:nvSpPr>
        <p:spPr>
          <a:xfrm>
            <a:off x="8366983" y="4732020"/>
            <a:ext cx="617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100" u="none" cap="none" strike="noStrike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rPr>
              <a:t>4</a:t>
            </a:r>
            <a:endParaRPr sz="1100"/>
          </a:p>
        </p:txBody>
      </p:sp>
      <p:grpSp>
        <p:nvGrpSpPr>
          <p:cNvPr id="351" name="Google Shape;351;p25"/>
          <p:cNvGrpSpPr/>
          <p:nvPr/>
        </p:nvGrpSpPr>
        <p:grpSpPr>
          <a:xfrm>
            <a:off x="8022888" y="-3992825"/>
            <a:ext cx="1127412" cy="9144006"/>
            <a:chOff x="8022888" y="-3992825"/>
            <a:chExt cx="1127412" cy="9144006"/>
          </a:xfrm>
        </p:grpSpPr>
        <p:sp>
          <p:nvSpPr>
            <p:cNvPr id="352" name="Google Shape;352;p25"/>
            <p:cNvSpPr/>
            <p:nvPr/>
          </p:nvSpPr>
          <p:spPr>
            <a:xfrm rot="5400000">
              <a:off x="4035150" y="36025"/>
              <a:ext cx="9144000" cy="1086300"/>
            </a:xfrm>
            <a:prstGeom prst="rect">
              <a:avLst/>
            </a:prstGeom>
            <a:solidFill>
              <a:srgbClr val="1F2A4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25"/>
            <p:cNvSpPr/>
            <p:nvPr/>
          </p:nvSpPr>
          <p:spPr>
            <a:xfrm rot="5400000">
              <a:off x="3471438" y="558631"/>
              <a:ext cx="9144000" cy="41100"/>
            </a:xfrm>
            <a:prstGeom prst="rect">
              <a:avLst/>
            </a:prstGeom>
            <a:solidFill>
              <a:srgbClr val="C99A2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4" name="Google Shape;354;p25"/>
          <p:cNvSpPr txBox="1"/>
          <p:nvPr/>
        </p:nvSpPr>
        <p:spPr>
          <a:xfrm rot="5400000">
            <a:off x="6247071" y="2205074"/>
            <a:ext cx="46041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th" sz="2600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Use Case Diagram</a:t>
            </a:r>
            <a:endParaRPr b="1" sz="2600">
              <a:solidFill>
                <a:schemeClr val="lt1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lt1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pic>
        <p:nvPicPr>
          <p:cNvPr id="355" name="Google Shape;3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46100"/>
            <a:ext cx="1717849" cy="5143501"/>
          </a:xfrm>
          <a:prstGeom prst="rect">
            <a:avLst/>
          </a:prstGeom>
          <a:solidFill>
            <a:srgbClr val="F5F1E8"/>
          </a:solidFill>
          <a:ln>
            <a:noFill/>
          </a:ln>
        </p:spPr>
      </p:pic>
      <p:pic>
        <p:nvPicPr>
          <p:cNvPr id="356" name="Google Shape;356;p25"/>
          <p:cNvPicPr preferRelativeResize="0"/>
          <p:nvPr/>
        </p:nvPicPr>
        <p:blipFill rotWithShape="1">
          <a:blip r:embed="rId3">
            <a:alphaModFix/>
          </a:blip>
          <a:srcRect b="50394" l="0" r="0" t="0"/>
          <a:stretch/>
        </p:blipFill>
        <p:spPr>
          <a:xfrm>
            <a:off x="1780882" y="99263"/>
            <a:ext cx="3329380" cy="4944973"/>
          </a:xfrm>
          <a:prstGeom prst="rect">
            <a:avLst/>
          </a:prstGeom>
          <a:solidFill>
            <a:srgbClr val="F5F1E8"/>
          </a:solidFill>
          <a:ln>
            <a:noFill/>
          </a:ln>
        </p:spPr>
      </p:pic>
      <p:pic>
        <p:nvPicPr>
          <p:cNvPr id="357" name="Google Shape;357;p25"/>
          <p:cNvPicPr preferRelativeResize="0"/>
          <p:nvPr/>
        </p:nvPicPr>
        <p:blipFill rotWithShape="1">
          <a:blip r:embed="rId3">
            <a:alphaModFix/>
          </a:blip>
          <a:srcRect b="0" l="0" r="0" t="49133"/>
          <a:stretch/>
        </p:blipFill>
        <p:spPr>
          <a:xfrm>
            <a:off x="5173275" y="127925"/>
            <a:ext cx="3023030" cy="4604099"/>
          </a:xfrm>
          <a:prstGeom prst="rect">
            <a:avLst/>
          </a:prstGeom>
          <a:solidFill>
            <a:srgbClr val="F5F1E8"/>
          </a:solidFill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6"/>
          <p:cNvSpPr/>
          <p:nvPr/>
        </p:nvSpPr>
        <p:spPr>
          <a:xfrm>
            <a:off x="-75425" y="0"/>
            <a:ext cx="9144000" cy="51435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6"/>
          <p:cNvSpPr txBox="1"/>
          <p:nvPr/>
        </p:nvSpPr>
        <p:spPr>
          <a:xfrm>
            <a:off x="173141" y="79020"/>
            <a:ext cx="7887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64" name="Google Shape;364;p26"/>
          <p:cNvSpPr txBox="1"/>
          <p:nvPr/>
        </p:nvSpPr>
        <p:spPr>
          <a:xfrm>
            <a:off x="8366983" y="4732020"/>
            <a:ext cx="617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100" u="none" cap="none" strike="noStrike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rPr>
              <a:t>4</a:t>
            </a:r>
            <a:endParaRPr sz="1100"/>
          </a:p>
        </p:txBody>
      </p:sp>
      <p:grpSp>
        <p:nvGrpSpPr>
          <p:cNvPr id="365" name="Google Shape;365;p26"/>
          <p:cNvGrpSpPr/>
          <p:nvPr/>
        </p:nvGrpSpPr>
        <p:grpSpPr>
          <a:xfrm>
            <a:off x="8022888" y="-3992825"/>
            <a:ext cx="1127412" cy="9144006"/>
            <a:chOff x="8022888" y="-3992825"/>
            <a:chExt cx="1127412" cy="9144006"/>
          </a:xfrm>
        </p:grpSpPr>
        <p:sp>
          <p:nvSpPr>
            <p:cNvPr id="366" name="Google Shape;366;p26"/>
            <p:cNvSpPr/>
            <p:nvPr/>
          </p:nvSpPr>
          <p:spPr>
            <a:xfrm rot="5400000">
              <a:off x="4035150" y="36025"/>
              <a:ext cx="9144000" cy="1086300"/>
            </a:xfrm>
            <a:prstGeom prst="rect">
              <a:avLst/>
            </a:prstGeom>
            <a:solidFill>
              <a:srgbClr val="1F2A4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26"/>
            <p:cNvSpPr/>
            <p:nvPr/>
          </p:nvSpPr>
          <p:spPr>
            <a:xfrm rot="5400000">
              <a:off x="3471438" y="558631"/>
              <a:ext cx="9144000" cy="41100"/>
            </a:xfrm>
            <a:prstGeom prst="rect">
              <a:avLst/>
            </a:prstGeom>
            <a:solidFill>
              <a:srgbClr val="C99A2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8" name="Google Shape;368;p26"/>
          <p:cNvSpPr txBox="1"/>
          <p:nvPr/>
        </p:nvSpPr>
        <p:spPr>
          <a:xfrm rot="5400000">
            <a:off x="6247071" y="2205074"/>
            <a:ext cx="46041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th" sz="2600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Domain Model</a:t>
            </a:r>
            <a:endParaRPr b="1" sz="2600">
              <a:solidFill>
                <a:schemeClr val="lt1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lt1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pic>
        <p:nvPicPr>
          <p:cNvPr id="369" name="Google Shape;36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9336" y="46090"/>
            <a:ext cx="7968681" cy="502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7"/>
          <p:cNvSpPr txBox="1"/>
          <p:nvPr/>
        </p:nvSpPr>
        <p:spPr>
          <a:xfrm>
            <a:off x="8366983" y="4732020"/>
            <a:ext cx="617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100" u="none" cap="none" strike="noStrike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rPr>
              <a:t>4</a:t>
            </a:r>
            <a:endParaRPr sz="1100"/>
          </a:p>
        </p:txBody>
      </p:sp>
      <p:grpSp>
        <p:nvGrpSpPr>
          <p:cNvPr id="376" name="Google Shape;376;p27"/>
          <p:cNvGrpSpPr/>
          <p:nvPr/>
        </p:nvGrpSpPr>
        <p:grpSpPr>
          <a:xfrm>
            <a:off x="8022888" y="-3992825"/>
            <a:ext cx="1127412" cy="9144006"/>
            <a:chOff x="8022888" y="-3992825"/>
            <a:chExt cx="1127412" cy="9144006"/>
          </a:xfrm>
        </p:grpSpPr>
        <p:sp>
          <p:nvSpPr>
            <p:cNvPr id="377" name="Google Shape;377;p27"/>
            <p:cNvSpPr/>
            <p:nvPr/>
          </p:nvSpPr>
          <p:spPr>
            <a:xfrm rot="5400000">
              <a:off x="4035150" y="36025"/>
              <a:ext cx="9144000" cy="1086300"/>
            </a:xfrm>
            <a:prstGeom prst="rect">
              <a:avLst/>
            </a:prstGeom>
            <a:solidFill>
              <a:srgbClr val="1F2A4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27"/>
            <p:cNvSpPr/>
            <p:nvPr/>
          </p:nvSpPr>
          <p:spPr>
            <a:xfrm rot="5400000">
              <a:off x="3471438" y="558631"/>
              <a:ext cx="9144000" cy="41100"/>
            </a:xfrm>
            <a:prstGeom prst="rect">
              <a:avLst/>
            </a:prstGeom>
            <a:solidFill>
              <a:srgbClr val="C99A2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9" name="Google Shape;379;p27"/>
          <p:cNvSpPr txBox="1"/>
          <p:nvPr/>
        </p:nvSpPr>
        <p:spPr>
          <a:xfrm rot="5400000">
            <a:off x="6131571" y="2089574"/>
            <a:ext cx="4604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th" sz="2600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Sequence Diagram</a:t>
            </a:r>
            <a:endParaRPr b="1" sz="2600">
              <a:solidFill>
                <a:schemeClr val="lt1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th" sz="2600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(admin void bid)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lt1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pic>
        <p:nvPicPr>
          <p:cNvPr id="380" name="Google Shape;380;p27" title="sequence-4-admin-void-bi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9450"/>
            <a:ext cx="7963223" cy="440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"/>
          <p:cNvSpPr/>
          <p:nvPr/>
        </p:nvSpPr>
        <p:spPr>
          <a:xfrm>
            <a:off x="-38400" y="0"/>
            <a:ext cx="9144000" cy="51435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8"/>
          <p:cNvSpPr txBox="1"/>
          <p:nvPr/>
        </p:nvSpPr>
        <p:spPr>
          <a:xfrm>
            <a:off x="173141" y="79020"/>
            <a:ext cx="7887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87" name="Google Shape;387;p28"/>
          <p:cNvSpPr txBox="1"/>
          <p:nvPr/>
        </p:nvSpPr>
        <p:spPr>
          <a:xfrm>
            <a:off x="8366983" y="4732020"/>
            <a:ext cx="617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100" u="none" cap="none" strike="noStrike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rPr>
              <a:t>4</a:t>
            </a:r>
            <a:endParaRPr sz="1100"/>
          </a:p>
        </p:txBody>
      </p:sp>
      <p:grpSp>
        <p:nvGrpSpPr>
          <p:cNvPr id="388" name="Google Shape;388;p28"/>
          <p:cNvGrpSpPr/>
          <p:nvPr/>
        </p:nvGrpSpPr>
        <p:grpSpPr>
          <a:xfrm>
            <a:off x="8022888" y="-3992825"/>
            <a:ext cx="1127412" cy="9144006"/>
            <a:chOff x="8022888" y="-3992825"/>
            <a:chExt cx="1127412" cy="9144006"/>
          </a:xfrm>
        </p:grpSpPr>
        <p:sp>
          <p:nvSpPr>
            <p:cNvPr id="389" name="Google Shape;389;p28"/>
            <p:cNvSpPr/>
            <p:nvPr/>
          </p:nvSpPr>
          <p:spPr>
            <a:xfrm rot="5400000">
              <a:off x="4035150" y="36025"/>
              <a:ext cx="9144000" cy="1086300"/>
            </a:xfrm>
            <a:prstGeom prst="rect">
              <a:avLst/>
            </a:prstGeom>
            <a:solidFill>
              <a:srgbClr val="1F2A4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28"/>
            <p:cNvSpPr/>
            <p:nvPr/>
          </p:nvSpPr>
          <p:spPr>
            <a:xfrm rot="5400000">
              <a:off x="3471438" y="558631"/>
              <a:ext cx="9144000" cy="41100"/>
            </a:xfrm>
            <a:prstGeom prst="rect">
              <a:avLst/>
            </a:prstGeom>
            <a:solidFill>
              <a:srgbClr val="C99A2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1" name="Google Shape;391;p28"/>
          <p:cNvSpPr txBox="1"/>
          <p:nvPr/>
        </p:nvSpPr>
        <p:spPr>
          <a:xfrm rot="5400000">
            <a:off x="6531771" y="2489774"/>
            <a:ext cx="4604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lt1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pic>
        <p:nvPicPr>
          <p:cNvPr id="392" name="Google Shape;392;p28" title="sequence-1-place-bi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25" y="0"/>
            <a:ext cx="7545702" cy="51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8"/>
          <p:cNvSpPr txBox="1"/>
          <p:nvPr/>
        </p:nvSpPr>
        <p:spPr>
          <a:xfrm rot="5400000">
            <a:off x="6765625" y="2723624"/>
            <a:ext cx="37362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th" sz="26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Sequence Diagram</a:t>
            </a:r>
            <a:endParaRPr b="1" sz="2600">
              <a:solidFill>
                <a:srgbClr val="FFFFFF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th" sz="26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rPr>
              <a:t>(place bid)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9"/>
          <p:cNvSpPr txBox="1"/>
          <p:nvPr/>
        </p:nvSpPr>
        <p:spPr>
          <a:xfrm>
            <a:off x="8366983" y="4732020"/>
            <a:ext cx="617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100" u="none" cap="none" strike="noStrike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rPr>
              <a:t>4</a:t>
            </a:r>
            <a:endParaRPr sz="1100"/>
          </a:p>
        </p:txBody>
      </p:sp>
      <p:pic>
        <p:nvPicPr>
          <p:cNvPr id="400" name="Google Shape;400;p29" title="sequence-3-payment-and-shipp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65" y="87400"/>
            <a:ext cx="7687634" cy="5063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1" name="Google Shape;401;p29"/>
          <p:cNvGrpSpPr/>
          <p:nvPr/>
        </p:nvGrpSpPr>
        <p:grpSpPr>
          <a:xfrm>
            <a:off x="8022888" y="-3992825"/>
            <a:ext cx="1127412" cy="9144006"/>
            <a:chOff x="8022888" y="-3992825"/>
            <a:chExt cx="1127412" cy="9144006"/>
          </a:xfrm>
        </p:grpSpPr>
        <p:sp>
          <p:nvSpPr>
            <p:cNvPr id="402" name="Google Shape;402;p29"/>
            <p:cNvSpPr/>
            <p:nvPr/>
          </p:nvSpPr>
          <p:spPr>
            <a:xfrm rot="5400000">
              <a:off x="4035150" y="36025"/>
              <a:ext cx="9144000" cy="1086300"/>
            </a:xfrm>
            <a:prstGeom prst="rect">
              <a:avLst/>
            </a:prstGeom>
            <a:solidFill>
              <a:srgbClr val="1F2A4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29"/>
            <p:cNvSpPr/>
            <p:nvPr/>
          </p:nvSpPr>
          <p:spPr>
            <a:xfrm rot="5400000">
              <a:off x="3471438" y="558631"/>
              <a:ext cx="9144000" cy="41100"/>
            </a:xfrm>
            <a:prstGeom prst="rect">
              <a:avLst/>
            </a:prstGeom>
            <a:solidFill>
              <a:srgbClr val="C99A2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4" name="Google Shape;404;p29"/>
          <p:cNvSpPr txBox="1"/>
          <p:nvPr/>
        </p:nvSpPr>
        <p:spPr>
          <a:xfrm rot="5400000">
            <a:off x="6331671" y="2289674"/>
            <a:ext cx="46041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th" sz="2600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Sequence Diagram</a:t>
            </a:r>
            <a:endParaRPr b="1" sz="2600">
              <a:solidFill>
                <a:schemeClr val="lt1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th" sz="2600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(payment and shipping)</a:t>
            </a:r>
            <a:endParaRPr b="1" sz="2600">
              <a:solidFill>
                <a:srgbClr val="FFFFFF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0"/>
          <p:cNvSpPr/>
          <p:nvPr/>
        </p:nvSpPr>
        <p:spPr>
          <a:xfrm>
            <a:off x="-38400" y="0"/>
            <a:ext cx="9144000" cy="51435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0"/>
          <p:cNvSpPr txBox="1"/>
          <p:nvPr/>
        </p:nvSpPr>
        <p:spPr>
          <a:xfrm>
            <a:off x="173141" y="79020"/>
            <a:ext cx="7887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11" name="Google Shape;411;p30"/>
          <p:cNvSpPr txBox="1"/>
          <p:nvPr/>
        </p:nvSpPr>
        <p:spPr>
          <a:xfrm>
            <a:off x="8366983" y="4732020"/>
            <a:ext cx="617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100" u="none" cap="none" strike="noStrike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rPr>
              <a:t>4</a:t>
            </a:r>
            <a:endParaRPr sz="1100"/>
          </a:p>
        </p:txBody>
      </p:sp>
      <p:pic>
        <p:nvPicPr>
          <p:cNvPr id="412" name="Google Shape;412;p30"/>
          <p:cNvPicPr preferRelativeResize="0"/>
          <p:nvPr/>
        </p:nvPicPr>
        <p:blipFill rotWithShape="1">
          <a:blip r:embed="rId3">
            <a:alphaModFix/>
          </a:blip>
          <a:srcRect b="0" l="0" r="0" t="3251"/>
          <a:stretch/>
        </p:blipFill>
        <p:spPr>
          <a:xfrm>
            <a:off x="377900" y="7675"/>
            <a:ext cx="6431299" cy="5143498"/>
          </a:xfrm>
          <a:prstGeom prst="rect">
            <a:avLst/>
          </a:prstGeom>
          <a:solidFill>
            <a:srgbClr val="F5F1E8"/>
          </a:solidFill>
          <a:ln>
            <a:noFill/>
          </a:ln>
        </p:spPr>
      </p:pic>
      <p:grpSp>
        <p:nvGrpSpPr>
          <p:cNvPr id="413" name="Google Shape;413;p30"/>
          <p:cNvGrpSpPr/>
          <p:nvPr/>
        </p:nvGrpSpPr>
        <p:grpSpPr>
          <a:xfrm>
            <a:off x="7798671" y="-3992825"/>
            <a:ext cx="1351629" cy="9144006"/>
            <a:chOff x="7798671" y="-3992825"/>
            <a:chExt cx="1351629" cy="9144006"/>
          </a:xfrm>
        </p:grpSpPr>
        <p:grpSp>
          <p:nvGrpSpPr>
            <p:cNvPr id="414" name="Google Shape;414;p30"/>
            <p:cNvGrpSpPr/>
            <p:nvPr/>
          </p:nvGrpSpPr>
          <p:grpSpPr>
            <a:xfrm>
              <a:off x="8022888" y="-3992825"/>
              <a:ext cx="1127412" cy="9144006"/>
              <a:chOff x="8022888" y="-3992825"/>
              <a:chExt cx="1127412" cy="9144006"/>
            </a:xfrm>
          </p:grpSpPr>
          <p:sp>
            <p:nvSpPr>
              <p:cNvPr id="415" name="Google Shape;415;p30"/>
              <p:cNvSpPr/>
              <p:nvPr/>
            </p:nvSpPr>
            <p:spPr>
              <a:xfrm rot="5400000">
                <a:off x="4035150" y="36025"/>
                <a:ext cx="9144000" cy="1086300"/>
              </a:xfrm>
              <a:prstGeom prst="rect">
                <a:avLst/>
              </a:prstGeom>
              <a:solidFill>
                <a:srgbClr val="1F2A4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 rot="5400000">
                <a:off x="3471438" y="558631"/>
                <a:ext cx="9144000" cy="41100"/>
              </a:xfrm>
              <a:prstGeom prst="rect">
                <a:avLst/>
              </a:prstGeom>
              <a:solidFill>
                <a:srgbClr val="C99A2E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7" name="Google Shape;417;p30"/>
            <p:cNvSpPr txBox="1"/>
            <p:nvPr/>
          </p:nvSpPr>
          <p:spPr>
            <a:xfrm rot="5400000">
              <a:off x="6131571" y="2089574"/>
              <a:ext cx="4604100" cy="12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b="1" lang="th" sz="2600">
                  <a:solidFill>
                    <a:schemeClr val="lt1"/>
                  </a:solidFill>
                  <a:latin typeface="Sarabun"/>
                  <a:ea typeface="Sarabun"/>
                  <a:cs typeface="Sarabun"/>
                  <a:sym typeface="Sarabun"/>
                </a:rPr>
                <a:t>Sequence Diagram</a:t>
              </a:r>
              <a:endParaRPr b="1" sz="2600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endParaRPr>
            </a:p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th" sz="2600">
                  <a:solidFill>
                    <a:schemeClr val="lt1"/>
                  </a:solidFill>
                  <a:latin typeface="Sarabun"/>
                  <a:ea typeface="Sarabun"/>
                  <a:cs typeface="Sarabun"/>
                  <a:sym typeface="Sarabun"/>
                </a:rPr>
                <a:t>(auto close create payment)</a:t>
              </a:r>
              <a:endParaRPr>
                <a:solidFill>
                  <a:schemeClr val="dk1"/>
                </a:solidFill>
              </a:endParaRPr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600">
                <a:solidFill>
                  <a:srgbClr val="FFFFFF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1"/>
          <p:cNvSpPr/>
          <p:nvPr/>
        </p:nvSpPr>
        <p:spPr>
          <a:xfrm>
            <a:off x="-38400" y="0"/>
            <a:ext cx="9144000" cy="51435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1"/>
          <p:cNvSpPr txBox="1"/>
          <p:nvPr/>
        </p:nvSpPr>
        <p:spPr>
          <a:xfrm>
            <a:off x="173141" y="79020"/>
            <a:ext cx="7887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24" name="Google Shape;424;p31"/>
          <p:cNvSpPr txBox="1"/>
          <p:nvPr/>
        </p:nvSpPr>
        <p:spPr>
          <a:xfrm>
            <a:off x="8366983" y="4732020"/>
            <a:ext cx="617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100" u="none" cap="none" strike="noStrike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rPr>
              <a:t>4</a:t>
            </a:r>
            <a:endParaRPr sz="1100"/>
          </a:p>
        </p:txBody>
      </p:sp>
      <p:grpSp>
        <p:nvGrpSpPr>
          <p:cNvPr id="425" name="Google Shape;425;p31"/>
          <p:cNvGrpSpPr/>
          <p:nvPr/>
        </p:nvGrpSpPr>
        <p:grpSpPr>
          <a:xfrm>
            <a:off x="8022888" y="-3992825"/>
            <a:ext cx="1127412" cy="9144006"/>
            <a:chOff x="8022888" y="-3992825"/>
            <a:chExt cx="1127412" cy="9144006"/>
          </a:xfrm>
        </p:grpSpPr>
        <p:sp>
          <p:nvSpPr>
            <p:cNvPr id="426" name="Google Shape;426;p31"/>
            <p:cNvSpPr/>
            <p:nvPr/>
          </p:nvSpPr>
          <p:spPr>
            <a:xfrm rot="5400000">
              <a:off x="4035150" y="36025"/>
              <a:ext cx="9144000" cy="1086300"/>
            </a:xfrm>
            <a:prstGeom prst="rect">
              <a:avLst/>
            </a:prstGeom>
            <a:solidFill>
              <a:srgbClr val="1F2A4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31"/>
            <p:cNvSpPr/>
            <p:nvPr/>
          </p:nvSpPr>
          <p:spPr>
            <a:xfrm rot="5400000">
              <a:off x="3471438" y="558631"/>
              <a:ext cx="9144000" cy="41100"/>
            </a:xfrm>
            <a:prstGeom prst="rect">
              <a:avLst/>
            </a:prstGeom>
            <a:solidFill>
              <a:srgbClr val="C99A2E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8" name="Google Shape;428;p31"/>
          <p:cNvSpPr txBox="1"/>
          <p:nvPr/>
        </p:nvSpPr>
        <p:spPr>
          <a:xfrm rot="5400000">
            <a:off x="6131571" y="2089574"/>
            <a:ext cx="4604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th" sz="2600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Activity Diagram</a:t>
            </a:r>
            <a:endParaRPr b="1" sz="2600">
              <a:solidFill>
                <a:schemeClr val="lt1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th" sz="2600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(place bid)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lt1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pic>
        <p:nvPicPr>
          <p:cNvPr id="429" name="Google Shape;42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04" y="79025"/>
            <a:ext cx="2871542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2"/>
          <p:cNvSpPr/>
          <p:nvPr/>
        </p:nvSpPr>
        <p:spPr>
          <a:xfrm>
            <a:off x="-39950" y="7675"/>
            <a:ext cx="9144000" cy="51435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2"/>
          <p:cNvSpPr txBox="1"/>
          <p:nvPr/>
        </p:nvSpPr>
        <p:spPr>
          <a:xfrm>
            <a:off x="173141" y="79020"/>
            <a:ext cx="7887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36" name="Google Shape;436;p32"/>
          <p:cNvSpPr txBox="1"/>
          <p:nvPr/>
        </p:nvSpPr>
        <p:spPr>
          <a:xfrm>
            <a:off x="8366983" y="4732020"/>
            <a:ext cx="617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100" u="none" cap="none" strike="noStrike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rPr>
              <a:t>4</a:t>
            </a:r>
            <a:endParaRPr sz="1100"/>
          </a:p>
        </p:txBody>
      </p:sp>
      <p:grpSp>
        <p:nvGrpSpPr>
          <p:cNvPr id="437" name="Google Shape;437;p32"/>
          <p:cNvGrpSpPr/>
          <p:nvPr/>
        </p:nvGrpSpPr>
        <p:grpSpPr>
          <a:xfrm>
            <a:off x="8022888" y="-3992825"/>
            <a:ext cx="1127412" cy="9144006"/>
            <a:chOff x="8022888" y="-3992825"/>
            <a:chExt cx="1127412" cy="9144006"/>
          </a:xfrm>
        </p:grpSpPr>
        <p:grpSp>
          <p:nvGrpSpPr>
            <p:cNvPr id="438" name="Google Shape;438;p32"/>
            <p:cNvGrpSpPr/>
            <p:nvPr/>
          </p:nvGrpSpPr>
          <p:grpSpPr>
            <a:xfrm>
              <a:off x="8022888" y="-3992825"/>
              <a:ext cx="1127412" cy="9144006"/>
              <a:chOff x="8022888" y="-3992825"/>
              <a:chExt cx="1127412" cy="9144006"/>
            </a:xfrm>
          </p:grpSpPr>
          <p:sp>
            <p:nvSpPr>
              <p:cNvPr id="439" name="Google Shape;439;p32"/>
              <p:cNvSpPr/>
              <p:nvPr/>
            </p:nvSpPr>
            <p:spPr>
              <a:xfrm rot="5400000">
                <a:off x="4035150" y="36025"/>
                <a:ext cx="9144000" cy="1086300"/>
              </a:xfrm>
              <a:prstGeom prst="rect">
                <a:avLst/>
              </a:prstGeom>
              <a:solidFill>
                <a:srgbClr val="1F2A4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32"/>
              <p:cNvSpPr/>
              <p:nvPr/>
            </p:nvSpPr>
            <p:spPr>
              <a:xfrm rot="5400000">
                <a:off x="3471438" y="558631"/>
                <a:ext cx="9144000" cy="41100"/>
              </a:xfrm>
              <a:prstGeom prst="rect">
                <a:avLst/>
              </a:prstGeom>
              <a:solidFill>
                <a:srgbClr val="C99A2E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1" name="Google Shape;441;p32"/>
            <p:cNvSpPr txBox="1"/>
            <p:nvPr/>
          </p:nvSpPr>
          <p:spPr>
            <a:xfrm rot="5400000">
              <a:off x="6331671" y="2289674"/>
              <a:ext cx="4604100" cy="8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2600">
                  <a:solidFill>
                    <a:schemeClr val="lt1"/>
                  </a:solidFill>
                  <a:latin typeface="Sarabun"/>
                  <a:ea typeface="Sarabun"/>
                  <a:cs typeface="Sarabun"/>
                  <a:sym typeface="Sarabun"/>
                </a:rPr>
                <a:t>Component Diagram</a:t>
              </a:r>
              <a:endParaRPr b="1" sz="2600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600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</p:grpSp>
      <p:pic>
        <p:nvPicPr>
          <p:cNvPr id="442" name="Google Shape;44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25" y="411313"/>
            <a:ext cx="8096251" cy="4320875"/>
          </a:xfrm>
          <a:prstGeom prst="rect">
            <a:avLst/>
          </a:prstGeom>
          <a:solidFill>
            <a:srgbClr val="F5F1E8"/>
          </a:solidFill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3"/>
          <p:cNvSpPr/>
          <p:nvPr/>
        </p:nvSpPr>
        <p:spPr>
          <a:xfrm>
            <a:off x="-39950" y="7675"/>
            <a:ext cx="9144000" cy="51435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3"/>
          <p:cNvSpPr txBox="1"/>
          <p:nvPr/>
        </p:nvSpPr>
        <p:spPr>
          <a:xfrm>
            <a:off x="173141" y="79020"/>
            <a:ext cx="7887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49" name="Google Shape;449;p33"/>
          <p:cNvSpPr txBox="1"/>
          <p:nvPr/>
        </p:nvSpPr>
        <p:spPr>
          <a:xfrm>
            <a:off x="8366983" y="4732020"/>
            <a:ext cx="617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100" u="none" cap="none" strike="noStrike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rPr>
              <a:t>4</a:t>
            </a:r>
            <a:endParaRPr sz="1100"/>
          </a:p>
        </p:txBody>
      </p:sp>
      <p:grpSp>
        <p:nvGrpSpPr>
          <p:cNvPr id="450" name="Google Shape;450;p33"/>
          <p:cNvGrpSpPr/>
          <p:nvPr/>
        </p:nvGrpSpPr>
        <p:grpSpPr>
          <a:xfrm>
            <a:off x="8022888" y="-3992825"/>
            <a:ext cx="1127412" cy="9144006"/>
            <a:chOff x="8022888" y="-3992825"/>
            <a:chExt cx="1127412" cy="9144006"/>
          </a:xfrm>
        </p:grpSpPr>
        <p:grpSp>
          <p:nvGrpSpPr>
            <p:cNvPr id="451" name="Google Shape;451;p33"/>
            <p:cNvGrpSpPr/>
            <p:nvPr/>
          </p:nvGrpSpPr>
          <p:grpSpPr>
            <a:xfrm>
              <a:off x="8022888" y="-3992825"/>
              <a:ext cx="1127412" cy="9144006"/>
              <a:chOff x="8022888" y="-3992825"/>
              <a:chExt cx="1127412" cy="9144006"/>
            </a:xfrm>
          </p:grpSpPr>
          <p:sp>
            <p:nvSpPr>
              <p:cNvPr id="452" name="Google Shape;452;p33"/>
              <p:cNvSpPr/>
              <p:nvPr/>
            </p:nvSpPr>
            <p:spPr>
              <a:xfrm rot="5400000">
                <a:off x="4035150" y="36025"/>
                <a:ext cx="9144000" cy="1086300"/>
              </a:xfrm>
              <a:prstGeom prst="rect">
                <a:avLst/>
              </a:prstGeom>
              <a:solidFill>
                <a:srgbClr val="1F2A4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33"/>
              <p:cNvSpPr/>
              <p:nvPr/>
            </p:nvSpPr>
            <p:spPr>
              <a:xfrm rot="5400000">
                <a:off x="3471438" y="558631"/>
                <a:ext cx="9144000" cy="41100"/>
              </a:xfrm>
              <a:prstGeom prst="rect">
                <a:avLst/>
              </a:prstGeom>
              <a:solidFill>
                <a:srgbClr val="C99A2E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4" name="Google Shape;454;p33"/>
            <p:cNvSpPr txBox="1"/>
            <p:nvPr/>
          </p:nvSpPr>
          <p:spPr>
            <a:xfrm rot="5400000">
              <a:off x="6331671" y="2289674"/>
              <a:ext cx="4604100" cy="8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2600">
                  <a:solidFill>
                    <a:schemeClr val="lt1"/>
                  </a:solidFill>
                  <a:latin typeface="Sarabun"/>
                  <a:ea typeface="Sarabun"/>
                  <a:cs typeface="Sarabun"/>
                  <a:sym typeface="Sarabun"/>
                </a:rPr>
                <a:t>Deployment</a:t>
              </a:r>
              <a:r>
                <a:rPr b="1" lang="th" sz="2600">
                  <a:solidFill>
                    <a:schemeClr val="lt1"/>
                  </a:solidFill>
                  <a:latin typeface="Sarabun"/>
                  <a:ea typeface="Sarabun"/>
                  <a:cs typeface="Sarabun"/>
                  <a:sym typeface="Sarabun"/>
                </a:rPr>
                <a:t> Diagram</a:t>
              </a:r>
              <a:endParaRPr b="1" sz="2600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600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</p:grpSp>
      <p:pic>
        <p:nvPicPr>
          <p:cNvPr id="455" name="Google Shape;4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150" y="208850"/>
            <a:ext cx="7363401" cy="2518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150" y="2922775"/>
            <a:ext cx="7363388" cy="2047750"/>
          </a:xfrm>
          <a:prstGeom prst="rect">
            <a:avLst/>
          </a:prstGeom>
          <a:solidFill>
            <a:srgbClr val="F5F1E8"/>
          </a:solidFill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4"/>
          <p:cNvSpPr/>
          <p:nvPr/>
        </p:nvSpPr>
        <p:spPr>
          <a:xfrm>
            <a:off x="-39950" y="7675"/>
            <a:ext cx="9144000" cy="51435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4"/>
          <p:cNvSpPr txBox="1"/>
          <p:nvPr/>
        </p:nvSpPr>
        <p:spPr>
          <a:xfrm>
            <a:off x="173141" y="79020"/>
            <a:ext cx="7887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63" name="Google Shape;463;p34"/>
          <p:cNvSpPr txBox="1"/>
          <p:nvPr/>
        </p:nvSpPr>
        <p:spPr>
          <a:xfrm>
            <a:off x="8366983" y="4732020"/>
            <a:ext cx="617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" sz="1100" u="none" cap="none" strike="noStrike">
                <a:solidFill>
                  <a:srgbClr val="555B6E"/>
                </a:solidFill>
                <a:latin typeface="Sarabun"/>
                <a:ea typeface="Sarabun"/>
                <a:cs typeface="Sarabun"/>
                <a:sym typeface="Sarabun"/>
              </a:rPr>
              <a:t>4</a:t>
            </a:r>
            <a:endParaRPr sz="1100"/>
          </a:p>
        </p:txBody>
      </p:sp>
      <p:grpSp>
        <p:nvGrpSpPr>
          <p:cNvPr id="464" name="Google Shape;464;p34"/>
          <p:cNvGrpSpPr/>
          <p:nvPr/>
        </p:nvGrpSpPr>
        <p:grpSpPr>
          <a:xfrm>
            <a:off x="8022888" y="-3992825"/>
            <a:ext cx="1127412" cy="9144006"/>
            <a:chOff x="8022888" y="-3992825"/>
            <a:chExt cx="1127412" cy="9144006"/>
          </a:xfrm>
        </p:grpSpPr>
        <p:grpSp>
          <p:nvGrpSpPr>
            <p:cNvPr id="465" name="Google Shape;465;p34"/>
            <p:cNvGrpSpPr/>
            <p:nvPr/>
          </p:nvGrpSpPr>
          <p:grpSpPr>
            <a:xfrm>
              <a:off x="8022888" y="-3992825"/>
              <a:ext cx="1127412" cy="9144006"/>
              <a:chOff x="8022888" y="-3992825"/>
              <a:chExt cx="1127412" cy="9144006"/>
            </a:xfrm>
          </p:grpSpPr>
          <p:sp>
            <p:nvSpPr>
              <p:cNvPr id="466" name="Google Shape;466;p34"/>
              <p:cNvSpPr/>
              <p:nvPr/>
            </p:nvSpPr>
            <p:spPr>
              <a:xfrm rot="5400000">
                <a:off x="4035150" y="36025"/>
                <a:ext cx="9144000" cy="1086300"/>
              </a:xfrm>
              <a:prstGeom prst="rect">
                <a:avLst/>
              </a:prstGeom>
              <a:solidFill>
                <a:srgbClr val="1F2A44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34"/>
              <p:cNvSpPr/>
              <p:nvPr/>
            </p:nvSpPr>
            <p:spPr>
              <a:xfrm rot="5400000">
                <a:off x="3471438" y="558631"/>
                <a:ext cx="9144000" cy="41100"/>
              </a:xfrm>
              <a:prstGeom prst="rect">
                <a:avLst/>
              </a:prstGeom>
              <a:solidFill>
                <a:srgbClr val="C99A2E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68" name="Google Shape;468;p34"/>
            <p:cNvSpPr txBox="1"/>
            <p:nvPr/>
          </p:nvSpPr>
          <p:spPr>
            <a:xfrm rot="5400000">
              <a:off x="6331671" y="2289674"/>
              <a:ext cx="4604100" cy="8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th" sz="2600">
                  <a:solidFill>
                    <a:schemeClr val="lt1"/>
                  </a:solidFill>
                  <a:latin typeface="Sarabun"/>
                  <a:ea typeface="Sarabun"/>
                  <a:cs typeface="Sarabun"/>
                  <a:sym typeface="Sarabun"/>
                </a:rPr>
                <a:t>Deployment Diagram</a:t>
              </a:r>
              <a:endParaRPr b="1" sz="2600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600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</p:grpSp>
      <p:pic>
        <p:nvPicPr>
          <p:cNvPr id="469" name="Google Shape;46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6924"/>
            <a:ext cx="8403501" cy="186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111075"/>
            <a:ext cx="5973099" cy="93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180500"/>
            <a:ext cx="6895801" cy="1081375"/>
          </a:xfrm>
          <a:prstGeom prst="rect">
            <a:avLst/>
          </a:prstGeom>
          <a:solidFill>
            <a:srgbClr val="F5F1E8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